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Inter" panose="020B0604020202020204" charset="0"/>
      <p:regular r:id="rId19"/>
    </p:embeddedFont>
    <p:embeddedFont>
      <p:font typeface="Inter Bold" panose="020B0604020202020204" charset="0"/>
      <p:regular r:id="rId20"/>
    </p:embeddedFont>
    <p:embeddedFont>
      <p:font typeface="Inter Italics" panose="020B0604020202020204" charset="0"/>
      <p:regular r:id="rId21"/>
    </p:embeddedFont>
    <p:embeddedFont>
      <p:font typeface="Paytone One" panose="020B0604020202020204" charset="0"/>
      <p:regular r:id="rId22"/>
    </p:embeddedFont>
    <p:embeddedFont>
      <p:font typeface="Source Sans 3"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08978" y="0"/>
            <a:ext cx="2100643" cy="2608021"/>
          </a:xfrm>
          <a:custGeom>
            <a:avLst/>
            <a:gdLst/>
            <a:ahLst/>
            <a:cxnLst/>
            <a:rect l="l" t="t" r="r" b="b"/>
            <a:pathLst>
              <a:path w="2100643" h="2608021">
                <a:moveTo>
                  <a:pt x="0" y="0"/>
                </a:moveTo>
                <a:lnTo>
                  <a:pt x="2100642" y="0"/>
                </a:lnTo>
                <a:lnTo>
                  <a:pt x="2100642" y="2608021"/>
                </a:lnTo>
                <a:lnTo>
                  <a:pt x="0" y="26080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290130" y="1754151"/>
            <a:ext cx="1707740" cy="1707740"/>
          </a:xfrm>
          <a:custGeom>
            <a:avLst/>
            <a:gdLst/>
            <a:ahLst/>
            <a:cxnLst/>
            <a:rect l="l" t="t" r="r" b="b"/>
            <a:pathLst>
              <a:path w="1707740" h="1707740">
                <a:moveTo>
                  <a:pt x="0" y="0"/>
                </a:moveTo>
                <a:lnTo>
                  <a:pt x="1707740" y="0"/>
                </a:lnTo>
                <a:lnTo>
                  <a:pt x="1707740" y="1707741"/>
                </a:lnTo>
                <a:lnTo>
                  <a:pt x="0" y="1707741"/>
                </a:lnTo>
                <a:lnTo>
                  <a:pt x="0" y="0"/>
                </a:lnTo>
                <a:close/>
              </a:path>
            </a:pathLst>
          </a:custGeom>
          <a:blipFill>
            <a:blip r:embed="rId4"/>
            <a:stretch>
              <a:fillRect/>
            </a:stretch>
          </a:blipFill>
        </p:spPr>
      </p:sp>
      <p:sp>
        <p:nvSpPr>
          <p:cNvPr id="5" name="Freeform 5"/>
          <p:cNvSpPr/>
          <p:nvPr/>
        </p:nvSpPr>
        <p:spPr>
          <a:xfrm flipH="1">
            <a:off x="0" y="0"/>
            <a:ext cx="1615477" cy="2005671"/>
          </a:xfrm>
          <a:custGeom>
            <a:avLst/>
            <a:gdLst/>
            <a:ahLst/>
            <a:cxnLst/>
            <a:rect l="l" t="t" r="r" b="b"/>
            <a:pathLst>
              <a:path w="1615477" h="2005671">
                <a:moveTo>
                  <a:pt x="1615477" y="0"/>
                </a:moveTo>
                <a:lnTo>
                  <a:pt x="0" y="0"/>
                </a:lnTo>
                <a:lnTo>
                  <a:pt x="0" y="2005671"/>
                </a:lnTo>
                <a:lnTo>
                  <a:pt x="1615477" y="2005671"/>
                </a:lnTo>
                <a:lnTo>
                  <a:pt x="161547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704221" y="259713"/>
            <a:ext cx="6879557" cy="712472"/>
          </a:xfrm>
          <a:prstGeom prst="rect">
            <a:avLst/>
          </a:prstGeom>
        </p:spPr>
        <p:txBody>
          <a:bodyPr lIns="0" tIns="0" rIns="0" bIns="0" rtlCol="0" anchor="t">
            <a:spAutoFit/>
          </a:bodyPr>
          <a:lstStyle/>
          <a:p>
            <a:pPr algn="ctr">
              <a:lnSpc>
                <a:spcPts val="5879"/>
              </a:lnSpc>
              <a:spcBef>
                <a:spcPct val="0"/>
              </a:spcBef>
            </a:pPr>
            <a:r>
              <a:rPr lang="en-US" sz="4199" b="1">
                <a:solidFill>
                  <a:srgbClr val="1800AD"/>
                </a:solidFill>
                <a:latin typeface="Inter Bold"/>
                <a:ea typeface="Inter Bold"/>
                <a:cs typeface="Inter Bold"/>
                <a:sym typeface="Inter Bold"/>
              </a:rPr>
              <a:t>ĐẠI HỌC TRÀ VINH</a:t>
            </a:r>
          </a:p>
        </p:txBody>
      </p:sp>
      <p:sp>
        <p:nvSpPr>
          <p:cNvPr id="7" name="TextBox 7"/>
          <p:cNvSpPr txBox="1"/>
          <p:nvPr/>
        </p:nvSpPr>
        <p:spPr>
          <a:xfrm>
            <a:off x="3978969" y="3423792"/>
            <a:ext cx="10630248" cy="1153798"/>
          </a:xfrm>
          <a:prstGeom prst="rect">
            <a:avLst/>
          </a:prstGeom>
        </p:spPr>
        <p:txBody>
          <a:bodyPr wrap="square" lIns="0" tIns="0" rIns="0" bIns="0" rtlCol="0" anchor="t">
            <a:spAutoFit/>
          </a:bodyPr>
          <a:lstStyle/>
          <a:p>
            <a:pPr algn="ctr">
              <a:lnSpc>
                <a:spcPts val="9379"/>
              </a:lnSpc>
              <a:spcBef>
                <a:spcPct val="0"/>
              </a:spcBef>
            </a:pPr>
            <a:r>
              <a:rPr lang="en-US" sz="6699">
                <a:solidFill>
                  <a:srgbClr val="FFBD59"/>
                </a:solidFill>
                <a:latin typeface="Paytone One"/>
                <a:ea typeface="Paytone One"/>
                <a:cs typeface="Paytone One"/>
                <a:sym typeface="Paytone One"/>
              </a:rPr>
              <a:t>KHÓA LUẬN TỐT NGHIỆP</a:t>
            </a:r>
          </a:p>
        </p:txBody>
      </p:sp>
      <p:sp>
        <p:nvSpPr>
          <p:cNvPr id="8" name="TextBox 8"/>
          <p:cNvSpPr txBox="1"/>
          <p:nvPr/>
        </p:nvSpPr>
        <p:spPr>
          <a:xfrm>
            <a:off x="5035351" y="917111"/>
            <a:ext cx="8528249" cy="708977"/>
          </a:xfrm>
          <a:prstGeom prst="rect">
            <a:avLst/>
          </a:prstGeom>
        </p:spPr>
        <p:txBody>
          <a:bodyPr wrap="square" lIns="0" tIns="0" rIns="0" bIns="0" rtlCol="0" anchor="t">
            <a:spAutoFit/>
          </a:bodyPr>
          <a:lstStyle/>
          <a:p>
            <a:pPr algn="ctr">
              <a:lnSpc>
                <a:spcPts val="6019"/>
              </a:lnSpc>
              <a:spcBef>
                <a:spcPct val="0"/>
              </a:spcBef>
            </a:pPr>
            <a:r>
              <a:rPr lang="en-US" sz="4299" b="1">
                <a:solidFill>
                  <a:srgbClr val="1800AD"/>
                </a:solidFill>
                <a:latin typeface="Inter Bold"/>
                <a:ea typeface="Inter Bold"/>
                <a:cs typeface="Inter Bold"/>
                <a:sym typeface="Inter Bold"/>
              </a:rPr>
              <a:t>Trường Kỹ Thuật và Công Nghệ</a:t>
            </a:r>
          </a:p>
        </p:txBody>
      </p:sp>
      <p:sp>
        <p:nvSpPr>
          <p:cNvPr id="9" name="TextBox 9"/>
          <p:cNvSpPr txBox="1"/>
          <p:nvPr/>
        </p:nvSpPr>
        <p:spPr>
          <a:xfrm>
            <a:off x="807739" y="4563109"/>
            <a:ext cx="1548408" cy="580391"/>
          </a:xfrm>
          <a:prstGeom prst="rect">
            <a:avLst/>
          </a:prstGeom>
        </p:spPr>
        <p:txBody>
          <a:bodyPr lIns="0" tIns="0" rIns="0" bIns="0" rtlCol="0" anchor="t">
            <a:spAutoFit/>
          </a:bodyPr>
          <a:lstStyle/>
          <a:p>
            <a:pPr algn="ctr">
              <a:lnSpc>
                <a:spcPts val="4759"/>
              </a:lnSpc>
              <a:spcBef>
                <a:spcPct val="0"/>
              </a:spcBef>
            </a:pPr>
            <a:r>
              <a:rPr lang="en-US" sz="3399" b="1" u="sng">
                <a:solidFill>
                  <a:srgbClr val="1800AD"/>
                </a:solidFill>
                <a:latin typeface="Inter Bold"/>
                <a:ea typeface="Inter Bold"/>
                <a:cs typeface="Inter Bold"/>
                <a:sym typeface="Inter Bold"/>
              </a:rPr>
              <a:t>ĐỀ TÀI:</a:t>
            </a:r>
          </a:p>
        </p:txBody>
      </p:sp>
      <p:sp>
        <p:nvSpPr>
          <p:cNvPr id="10" name="TextBox 10"/>
          <p:cNvSpPr txBox="1"/>
          <p:nvPr/>
        </p:nvSpPr>
        <p:spPr>
          <a:xfrm>
            <a:off x="1581942" y="5067300"/>
            <a:ext cx="15677358" cy="2988947"/>
          </a:xfrm>
          <a:prstGeom prst="rect">
            <a:avLst/>
          </a:prstGeom>
        </p:spPr>
        <p:txBody>
          <a:bodyPr lIns="0" tIns="0" rIns="0" bIns="0" rtlCol="0" anchor="t">
            <a:spAutoFit/>
          </a:bodyPr>
          <a:lstStyle/>
          <a:p>
            <a:pPr algn="ctr">
              <a:lnSpc>
                <a:spcPts val="7979"/>
              </a:lnSpc>
              <a:spcBef>
                <a:spcPct val="0"/>
              </a:spcBef>
            </a:pPr>
            <a:r>
              <a:rPr lang="en-US" sz="5699" b="1">
                <a:solidFill>
                  <a:srgbClr val="1800AD"/>
                </a:solidFill>
                <a:latin typeface="Inter Bold"/>
                <a:ea typeface="Inter Bold"/>
                <a:cs typeface="Inter Bold"/>
                <a:sym typeface="Inter Bold"/>
              </a:rPr>
              <a:t>PHÁT TRIỂN HỆ THỐNG GỢI Ý THỰC PHẨM HỖ TRỢ TĂNG CÂN LÀNH MẠNH CHO NGƯỜI THIẾU CÂN</a:t>
            </a:r>
          </a:p>
        </p:txBody>
      </p:sp>
      <p:sp>
        <p:nvSpPr>
          <p:cNvPr id="11" name="TextBox 11"/>
          <p:cNvSpPr txBox="1"/>
          <p:nvPr/>
        </p:nvSpPr>
        <p:spPr>
          <a:xfrm>
            <a:off x="12175480" y="8499267"/>
            <a:ext cx="4497043" cy="389255"/>
          </a:xfrm>
          <a:prstGeom prst="rect">
            <a:avLst/>
          </a:prstGeom>
        </p:spPr>
        <p:txBody>
          <a:bodyPr wrap="square"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SINH VIÊN: TRẦN THỊ YẾN NHI</a:t>
            </a:r>
          </a:p>
        </p:txBody>
      </p:sp>
      <p:sp>
        <p:nvSpPr>
          <p:cNvPr id="12" name="TextBox 12"/>
          <p:cNvSpPr txBox="1"/>
          <p:nvPr/>
        </p:nvSpPr>
        <p:spPr>
          <a:xfrm>
            <a:off x="12175480" y="8840898"/>
            <a:ext cx="2759720" cy="378309"/>
          </a:xfrm>
          <a:prstGeom prst="rect">
            <a:avLst/>
          </a:prstGeom>
        </p:spPr>
        <p:txBody>
          <a:bodyPr wrap="square"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MSSV: 110122133</a:t>
            </a:r>
          </a:p>
        </p:txBody>
      </p:sp>
      <p:sp>
        <p:nvSpPr>
          <p:cNvPr id="13" name="TextBox 13"/>
          <p:cNvSpPr txBox="1"/>
          <p:nvPr/>
        </p:nvSpPr>
        <p:spPr>
          <a:xfrm>
            <a:off x="12175479" y="9211103"/>
            <a:ext cx="2433737" cy="378309"/>
          </a:xfrm>
          <a:prstGeom prst="rect">
            <a:avLst/>
          </a:prstGeom>
        </p:spPr>
        <p:txBody>
          <a:bodyPr wrap="square"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LỚP: DA22TTB</a:t>
            </a:r>
          </a:p>
        </p:txBody>
      </p:sp>
      <p:sp>
        <p:nvSpPr>
          <p:cNvPr id="14" name="TextBox 14"/>
          <p:cNvSpPr txBox="1"/>
          <p:nvPr/>
        </p:nvSpPr>
        <p:spPr>
          <a:xfrm>
            <a:off x="1615477" y="8499267"/>
            <a:ext cx="7623374" cy="389255"/>
          </a:xfrm>
          <a:prstGeom prst="rect">
            <a:avLst/>
          </a:prstGeom>
        </p:spPr>
        <p:txBody>
          <a:bodyPr lIns="0" tIns="0" rIns="0" bIns="0" rtlCol="0" anchor="t">
            <a:spAutoFit/>
          </a:bodyPr>
          <a:lstStyle/>
          <a:p>
            <a:pPr algn="ctr">
              <a:lnSpc>
                <a:spcPts val="3219"/>
              </a:lnSpc>
              <a:spcBef>
                <a:spcPct val="0"/>
              </a:spcBef>
            </a:pPr>
            <a:r>
              <a:rPr lang="en-US" sz="2299" b="1">
                <a:solidFill>
                  <a:srgbClr val="737373"/>
                </a:solidFill>
                <a:latin typeface="Inter Bold"/>
                <a:ea typeface="Inter Bold"/>
                <a:cs typeface="Inter Bold"/>
                <a:sym typeface="Inter Bold"/>
              </a:rPr>
              <a:t>GIẢNG VIÊN HƯỚNG DẪN: TS. THẠCH KỌNG SAOANE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090814" y="2683622"/>
            <a:ext cx="3341191" cy="1042592"/>
            <a:chOff x="0" y="0"/>
            <a:chExt cx="808934" cy="252421"/>
          </a:xfrm>
        </p:grpSpPr>
        <p:sp>
          <p:nvSpPr>
            <p:cNvPr id="4" name="Freeform 4"/>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5" name="TextBox 5"/>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586684" y="987631"/>
            <a:ext cx="9281716" cy="1028700"/>
          </a:xfrm>
          <a:prstGeom prst="rect">
            <a:avLst/>
          </a:prstGeom>
        </p:spPr>
        <p:txBody>
          <a:bodyPr wrap="square" lIns="0" tIns="0" rIns="0" bIns="0" rtlCol="0" anchor="t">
            <a:spAutoFit/>
          </a:bodyPr>
          <a:lstStyle/>
          <a:p>
            <a:pPr algn="ctr">
              <a:lnSpc>
                <a:spcPts val="8160"/>
              </a:lnSpc>
              <a:spcBef>
                <a:spcPct val="0"/>
              </a:spcBef>
            </a:pPr>
            <a:r>
              <a:rPr lang="en-US" sz="6800" b="1">
                <a:solidFill>
                  <a:srgbClr val="FFBD59"/>
                </a:solidFill>
                <a:latin typeface="Inter Bold"/>
                <a:ea typeface="Inter Bold"/>
                <a:cs typeface="Inter Bold"/>
                <a:sym typeface="Inter Bold"/>
              </a:rPr>
              <a:t>NỘI DUNG TRÌNH BÀY</a:t>
            </a:r>
          </a:p>
        </p:txBody>
      </p:sp>
      <p:sp>
        <p:nvSpPr>
          <p:cNvPr id="7" name="Freeform 7"/>
          <p:cNvSpPr/>
          <p:nvPr/>
        </p:nvSpPr>
        <p:spPr>
          <a:xfrm>
            <a:off x="12494" y="0"/>
            <a:ext cx="2032411" cy="2032411"/>
          </a:xfrm>
          <a:custGeom>
            <a:avLst/>
            <a:gdLst/>
            <a:ahLst/>
            <a:cxnLst/>
            <a:rect l="l" t="t" r="r" b="b"/>
            <a:pathLst>
              <a:path w="2032411" h="2032411">
                <a:moveTo>
                  <a:pt x="0" y="0"/>
                </a:moveTo>
                <a:lnTo>
                  <a:pt x="2032412" y="0"/>
                </a:lnTo>
                <a:lnTo>
                  <a:pt x="2032412" y="2032411"/>
                </a:lnTo>
                <a:lnTo>
                  <a:pt x="0" y="20324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157489" y="2781967"/>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a:t>
            </a:r>
          </a:p>
        </p:txBody>
      </p:sp>
      <p:sp>
        <p:nvSpPr>
          <p:cNvPr id="9" name="TextBox 9"/>
          <p:cNvSpPr txBox="1"/>
          <p:nvPr/>
        </p:nvSpPr>
        <p:spPr>
          <a:xfrm>
            <a:off x="6241852" y="2718645"/>
            <a:ext cx="7626548"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TỔNG QUAN VỀ ĐỀ TÀI</a:t>
            </a:r>
          </a:p>
        </p:txBody>
      </p:sp>
      <p:sp>
        <p:nvSpPr>
          <p:cNvPr id="10" name="TextBox 10"/>
          <p:cNvSpPr txBox="1"/>
          <p:nvPr/>
        </p:nvSpPr>
        <p:spPr>
          <a:xfrm>
            <a:off x="6508552" y="3267564"/>
            <a:ext cx="6566711" cy="412750"/>
          </a:xfrm>
          <a:prstGeom prst="rect">
            <a:avLst/>
          </a:prstGeom>
        </p:spPr>
        <p:txBody>
          <a:bodyPr wrap="square"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__________________________________________</a:t>
            </a:r>
          </a:p>
        </p:txBody>
      </p:sp>
      <p:grpSp>
        <p:nvGrpSpPr>
          <p:cNvPr id="11" name="Group 11"/>
          <p:cNvGrpSpPr/>
          <p:nvPr/>
        </p:nvGrpSpPr>
        <p:grpSpPr>
          <a:xfrm>
            <a:off x="2157489" y="4629630"/>
            <a:ext cx="3341191" cy="1042592"/>
            <a:chOff x="0" y="0"/>
            <a:chExt cx="808934" cy="252421"/>
          </a:xfrm>
        </p:grpSpPr>
        <p:sp>
          <p:nvSpPr>
            <p:cNvPr id="12" name="Freeform 12"/>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13" name="TextBox 13"/>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243214" y="4727975"/>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II</a:t>
            </a:r>
          </a:p>
        </p:txBody>
      </p:sp>
      <p:grpSp>
        <p:nvGrpSpPr>
          <p:cNvPr id="15" name="Group 15"/>
          <p:cNvGrpSpPr/>
          <p:nvPr/>
        </p:nvGrpSpPr>
        <p:grpSpPr>
          <a:xfrm>
            <a:off x="2157489" y="6577097"/>
            <a:ext cx="3341191" cy="1042592"/>
            <a:chOff x="0" y="0"/>
            <a:chExt cx="808934" cy="252421"/>
          </a:xfrm>
        </p:grpSpPr>
        <p:sp>
          <p:nvSpPr>
            <p:cNvPr id="16" name="Freeform 16"/>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17" name="TextBox 17"/>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2252739" y="6675442"/>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III</a:t>
            </a:r>
          </a:p>
        </p:txBody>
      </p:sp>
      <p:grpSp>
        <p:nvGrpSpPr>
          <p:cNvPr id="19" name="Group 19"/>
          <p:cNvGrpSpPr/>
          <p:nvPr/>
        </p:nvGrpSpPr>
        <p:grpSpPr>
          <a:xfrm>
            <a:off x="2090814" y="8523105"/>
            <a:ext cx="3341191" cy="1042592"/>
            <a:chOff x="0" y="0"/>
            <a:chExt cx="808934" cy="252421"/>
          </a:xfrm>
        </p:grpSpPr>
        <p:sp>
          <p:nvSpPr>
            <p:cNvPr id="20" name="Freeform 20"/>
            <p:cNvSpPr/>
            <p:nvPr/>
          </p:nvSpPr>
          <p:spPr>
            <a:xfrm>
              <a:off x="0" y="0"/>
              <a:ext cx="808934" cy="252421"/>
            </a:xfrm>
            <a:custGeom>
              <a:avLst/>
              <a:gdLst/>
              <a:ahLst/>
              <a:cxnLst/>
              <a:rect l="l" t="t" r="r" b="b"/>
              <a:pathLst>
                <a:path w="808934" h="252421">
                  <a:moveTo>
                    <a:pt x="95002" y="0"/>
                  </a:moveTo>
                  <a:lnTo>
                    <a:pt x="713932" y="0"/>
                  </a:lnTo>
                  <a:cubicBezTo>
                    <a:pt x="739128" y="0"/>
                    <a:pt x="763292" y="10009"/>
                    <a:pt x="781108" y="27825"/>
                  </a:cubicBezTo>
                  <a:cubicBezTo>
                    <a:pt x="798924" y="45642"/>
                    <a:pt x="808934" y="69806"/>
                    <a:pt x="808934" y="95002"/>
                  </a:cubicBezTo>
                  <a:lnTo>
                    <a:pt x="808934" y="157420"/>
                  </a:lnTo>
                  <a:cubicBezTo>
                    <a:pt x="808934" y="182616"/>
                    <a:pt x="798924" y="206780"/>
                    <a:pt x="781108" y="224596"/>
                  </a:cubicBezTo>
                  <a:cubicBezTo>
                    <a:pt x="763292" y="242412"/>
                    <a:pt x="739128" y="252421"/>
                    <a:pt x="713932" y="252421"/>
                  </a:cubicBezTo>
                  <a:lnTo>
                    <a:pt x="95002" y="252421"/>
                  </a:lnTo>
                  <a:cubicBezTo>
                    <a:pt x="69806" y="252421"/>
                    <a:pt x="45642" y="242412"/>
                    <a:pt x="27825" y="224596"/>
                  </a:cubicBezTo>
                  <a:cubicBezTo>
                    <a:pt x="10009" y="206780"/>
                    <a:pt x="0" y="182616"/>
                    <a:pt x="0" y="157420"/>
                  </a:cubicBezTo>
                  <a:lnTo>
                    <a:pt x="0" y="95002"/>
                  </a:lnTo>
                  <a:cubicBezTo>
                    <a:pt x="0" y="69806"/>
                    <a:pt x="10009" y="45642"/>
                    <a:pt x="27825" y="27825"/>
                  </a:cubicBezTo>
                  <a:cubicBezTo>
                    <a:pt x="45642" y="10009"/>
                    <a:pt x="69806" y="0"/>
                    <a:pt x="95002" y="0"/>
                  </a:cubicBezTo>
                  <a:close/>
                </a:path>
              </a:pathLst>
            </a:custGeom>
            <a:solidFill>
              <a:srgbClr val="1800AD"/>
            </a:solidFill>
            <a:ln w="38100" cap="rnd">
              <a:solidFill>
                <a:srgbClr val="F9F9F9"/>
              </a:solidFill>
              <a:prstDash val="solid"/>
              <a:round/>
            </a:ln>
          </p:spPr>
        </p:sp>
        <p:sp>
          <p:nvSpPr>
            <p:cNvPr id="21" name="TextBox 21"/>
            <p:cNvSpPr txBox="1"/>
            <p:nvPr/>
          </p:nvSpPr>
          <p:spPr>
            <a:xfrm>
              <a:off x="0" y="-38100"/>
              <a:ext cx="808934" cy="290521"/>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195589" y="8621450"/>
            <a:ext cx="3116024" cy="844552"/>
          </a:xfrm>
          <a:prstGeom prst="rect">
            <a:avLst/>
          </a:prstGeom>
        </p:spPr>
        <p:txBody>
          <a:bodyPr lIns="0" tIns="0" rIns="0" bIns="0" rtlCol="0" anchor="t">
            <a:spAutoFit/>
          </a:bodyPr>
          <a:lstStyle/>
          <a:p>
            <a:pPr algn="ctr">
              <a:lnSpc>
                <a:spcPts val="6999"/>
              </a:lnSpc>
              <a:spcBef>
                <a:spcPct val="0"/>
              </a:spcBef>
            </a:pPr>
            <a:r>
              <a:rPr lang="en-US" sz="4999" b="1">
                <a:solidFill>
                  <a:srgbClr val="FFFFFF"/>
                </a:solidFill>
                <a:latin typeface="Inter Bold"/>
                <a:ea typeface="Inter Bold"/>
                <a:cs typeface="Inter Bold"/>
                <a:sym typeface="Inter Bold"/>
              </a:rPr>
              <a:t>PHẦN IV</a:t>
            </a:r>
          </a:p>
        </p:txBody>
      </p:sp>
      <p:sp>
        <p:nvSpPr>
          <p:cNvPr id="23" name="TextBox 23"/>
          <p:cNvSpPr txBox="1"/>
          <p:nvPr/>
        </p:nvSpPr>
        <p:spPr>
          <a:xfrm>
            <a:off x="6307485" y="4664653"/>
            <a:ext cx="6177020"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CƠ SỞ LÝ THUYẾT</a:t>
            </a:r>
          </a:p>
        </p:txBody>
      </p:sp>
      <p:sp>
        <p:nvSpPr>
          <p:cNvPr id="24" name="TextBox 24"/>
          <p:cNvSpPr txBox="1"/>
          <p:nvPr/>
        </p:nvSpPr>
        <p:spPr>
          <a:xfrm>
            <a:off x="5917794" y="5213573"/>
            <a:ext cx="6566711" cy="412750"/>
          </a:xfrm>
          <a:prstGeom prst="rect">
            <a:avLst/>
          </a:prstGeom>
        </p:spPr>
        <p:txBody>
          <a:bodyPr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a:t>
            </a:r>
          </a:p>
        </p:txBody>
      </p:sp>
      <p:sp>
        <p:nvSpPr>
          <p:cNvPr id="25" name="TextBox 25"/>
          <p:cNvSpPr txBox="1"/>
          <p:nvPr/>
        </p:nvSpPr>
        <p:spPr>
          <a:xfrm>
            <a:off x="6307485" y="6607398"/>
            <a:ext cx="6782817"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THIẾT KẾ HỆ THỐNG</a:t>
            </a:r>
          </a:p>
        </p:txBody>
      </p:sp>
      <p:sp>
        <p:nvSpPr>
          <p:cNvPr id="26" name="TextBox 26"/>
          <p:cNvSpPr txBox="1"/>
          <p:nvPr/>
        </p:nvSpPr>
        <p:spPr>
          <a:xfrm>
            <a:off x="6307485" y="7156317"/>
            <a:ext cx="6566711" cy="412750"/>
          </a:xfrm>
          <a:prstGeom prst="rect">
            <a:avLst/>
          </a:prstGeom>
        </p:spPr>
        <p:txBody>
          <a:bodyPr wrap="square"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___________________________________________</a:t>
            </a:r>
          </a:p>
        </p:txBody>
      </p:sp>
      <p:sp>
        <p:nvSpPr>
          <p:cNvPr id="27" name="TextBox 27"/>
          <p:cNvSpPr txBox="1"/>
          <p:nvPr/>
        </p:nvSpPr>
        <p:spPr>
          <a:xfrm>
            <a:off x="6394252" y="8578999"/>
            <a:ext cx="10903148" cy="870587"/>
          </a:xfrm>
          <a:prstGeom prst="rect">
            <a:avLst/>
          </a:prstGeom>
        </p:spPr>
        <p:txBody>
          <a:bodyPr wrap="square" lIns="0" tIns="0" rIns="0" bIns="0" rtlCol="0" anchor="t">
            <a:spAutoFit/>
          </a:bodyPr>
          <a:lstStyle/>
          <a:p>
            <a:pPr algn="ctr">
              <a:lnSpc>
                <a:spcPts val="7139"/>
              </a:lnSpc>
              <a:spcBef>
                <a:spcPct val="0"/>
              </a:spcBef>
            </a:pPr>
            <a:r>
              <a:rPr lang="en-US" sz="5099" b="1">
                <a:solidFill>
                  <a:srgbClr val="1800AD"/>
                </a:solidFill>
                <a:latin typeface="Inter Bold"/>
                <a:ea typeface="Inter Bold"/>
                <a:cs typeface="Inter Bold"/>
                <a:sym typeface="Inter Bold"/>
              </a:rPr>
              <a:t>KẾT QUẢ VÀ HƯỚNG PHÁT TRIỂN</a:t>
            </a:r>
          </a:p>
        </p:txBody>
      </p:sp>
      <p:sp>
        <p:nvSpPr>
          <p:cNvPr id="28" name="TextBox 28"/>
          <p:cNvSpPr txBox="1"/>
          <p:nvPr/>
        </p:nvSpPr>
        <p:spPr>
          <a:xfrm>
            <a:off x="6676615" y="9086177"/>
            <a:ext cx="9707291" cy="412750"/>
          </a:xfrm>
          <a:prstGeom prst="rect">
            <a:avLst/>
          </a:prstGeom>
        </p:spPr>
        <p:txBody>
          <a:bodyPr lIns="0" tIns="0" rIns="0" bIns="0" rtlCol="0" anchor="t">
            <a:spAutoFit/>
          </a:bodyPr>
          <a:lstStyle/>
          <a:p>
            <a:pPr algn="ctr">
              <a:lnSpc>
                <a:spcPts val="3499"/>
              </a:lnSpc>
              <a:spcBef>
                <a:spcPct val="0"/>
              </a:spcBef>
            </a:pPr>
            <a:r>
              <a:rPr lang="en-US" sz="2499">
                <a:solidFill>
                  <a:srgbClr val="D9D9D9"/>
                </a:solidFill>
                <a:latin typeface="Inter"/>
                <a:ea typeface="Inter"/>
                <a:cs typeface="Inter"/>
                <a:sym typeface="Inter"/>
              </a:rPr>
              <a:t>__________________________________________________________________</a:t>
            </a:r>
          </a:p>
        </p:txBody>
      </p:sp>
      <p:sp>
        <p:nvSpPr>
          <p:cNvPr id="29" name="AutoShape 29"/>
          <p:cNvSpPr/>
          <p:nvPr/>
        </p:nvSpPr>
        <p:spPr>
          <a:xfrm flipV="1">
            <a:off x="3715501" y="5626323"/>
            <a:ext cx="0" cy="950774"/>
          </a:xfrm>
          <a:prstGeom prst="line">
            <a:avLst/>
          </a:prstGeom>
          <a:ln w="552450" cap="flat">
            <a:solidFill>
              <a:srgbClr val="FFBD59"/>
            </a:solidFill>
            <a:prstDash val="solid"/>
            <a:headEnd type="none" w="sm" len="sm"/>
            <a:tailEnd type="none" w="sm" len="sm"/>
          </a:ln>
        </p:spPr>
      </p:sp>
      <p:sp>
        <p:nvSpPr>
          <p:cNvPr id="30" name="AutoShape 30"/>
          <p:cNvSpPr/>
          <p:nvPr/>
        </p:nvSpPr>
        <p:spPr>
          <a:xfrm flipV="1">
            <a:off x="3715501" y="7586669"/>
            <a:ext cx="0" cy="950774"/>
          </a:xfrm>
          <a:prstGeom prst="line">
            <a:avLst/>
          </a:prstGeom>
          <a:ln w="552450" cap="flat">
            <a:solidFill>
              <a:srgbClr val="FFBD59"/>
            </a:solidFill>
            <a:prstDash val="solid"/>
            <a:headEnd type="none" w="sm" len="sm"/>
            <a:tailEnd type="none" w="sm" len="sm"/>
          </a:ln>
        </p:spPr>
      </p:sp>
      <p:sp>
        <p:nvSpPr>
          <p:cNvPr id="31" name="AutoShape 31"/>
          <p:cNvSpPr/>
          <p:nvPr/>
        </p:nvSpPr>
        <p:spPr>
          <a:xfrm flipV="1">
            <a:off x="3715501" y="3697639"/>
            <a:ext cx="0" cy="950774"/>
          </a:xfrm>
          <a:prstGeom prst="line">
            <a:avLst/>
          </a:prstGeom>
          <a:ln w="552450" cap="flat">
            <a:solidFill>
              <a:srgbClr val="FFBD59"/>
            </a:solidFill>
            <a:prstDash val="solid"/>
            <a:headEnd type="none" w="sm" len="sm"/>
            <a:tailEnd type="none" w="sm" len="sm"/>
          </a:ln>
        </p:spPr>
      </p:sp>
      <p:sp>
        <p:nvSpPr>
          <p:cNvPr id="32" name="TextBox 32"/>
          <p:cNvSpPr txBox="1"/>
          <p:nvPr/>
        </p:nvSpPr>
        <p:spPr>
          <a:xfrm>
            <a:off x="17671000" y="9508547"/>
            <a:ext cx="156270"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0" y="1703141"/>
            <a:ext cx="18288000" cy="1400763"/>
            <a:chOff x="0" y="0"/>
            <a:chExt cx="2833290" cy="217015"/>
          </a:xfrm>
        </p:grpSpPr>
        <p:sp>
          <p:nvSpPr>
            <p:cNvPr id="4" name="Freeform 4"/>
            <p:cNvSpPr/>
            <p:nvPr/>
          </p:nvSpPr>
          <p:spPr>
            <a:xfrm>
              <a:off x="0" y="0"/>
              <a:ext cx="2833290" cy="217015"/>
            </a:xfrm>
            <a:custGeom>
              <a:avLst/>
              <a:gdLst/>
              <a:ahLst/>
              <a:cxnLst/>
              <a:rect l="l" t="t" r="r" b="b"/>
              <a:pathLst>
                <a:path w="2833290" h="217015">
                  <a:moveTo>
                    <a:pt x="0" y="0"/>
                  </a:moveTo>
                  <a:lnTo>
                    <a:pt x="2833290" y="0"/>
                  </a:lnTo>
                  <a:lnTo>
                    <a:pt x="2833290" y="217015"/>
                  </a:lnTo>
                  <a:lnTo>
                    <a:pt x="0" y="217015"/>
                  </a:lnTo>
                  <a:close/>
                </a:path>
              </a:pathLst>
            </a:custGeom>
            <a:solidFill>
              <a:srgbClr val="1800AD"/>
            </a:solidFill>
            <a:ln w="76200" cap="sq">
              <a:solidFill>
                <a:srgbClr val="F9F9F9"/>
              </a:solidFill>
              <a:prstDash val="solid"/>
              <a:miter/>
            </a:ln>
          </p:spPr>
        </p:sp>
      </p:grpSp>
      <p:grpSp>
        <p:nvGrpSpPr>
          <p:cNvPr id="5" name="Group 5"/>
          <p:cNvGrpSpPr/>
          <p:nvPr/>
        </p:nvGrpSpPr>
        <p:grpSpPr>
          <a:xfrm>
            <a:off x="6968643" y="467355"/>
            <a:ext cx="2262593" cy="961402"/>
            <a:chOff x="0" y="0"/>
            <a:chExt cx="594056" cy="252421"/>
          </a:xfrm>
        </p:grpSpPr>
        <p:sp>
          <p:nvSpPr>
            <p:cNvPr id="6" name="Freeform 6"/>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7" name="TextBox 7"/>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842013" y="467355"/>
            <a:ext cx="2262593" cy="961402"/>
            <a:chOff x="0" y="0"/>
            <a:chExt cx="594056" cy="252421"/>
          </a:xfrm>
        </p:grpSpPr>
        <p:sp>
          <p:nvSpPr>
            <p:cNvPr id="9" name="Freeform 9"/>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0" name="TextBox 10"/>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715382" y="458015"/>
            <a:ext cx="2262593" cy="961402"/>
            <a:chOff x="0" y="0"/>
            <a:chExt cx="594056" cy="252421"/>
          </a:xfrm>
        </p:grpSpPr>
        <p:sp>
          <p:nvSpPr>
            <p:cNvPr id="12" name="Freeform 12"/>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3" name="TextBox 13"/>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5579226" y="467355"/>
            <a:ext cx="2262593" cy="961402"/>
            <a:chOff x="0" y="0"/>
            <a:chExt cx="594056" cy="252421"/>
          </a:xfrm>
        </p:grpSpPr>
        <p:sp>
          <p:nvSpPr>
            <p:cNvPr id="15" name="Freeform 15"/>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6" name="TextBox 16"/>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374391" y="3770654"/>
            <a:ext cx="9700865" cy="1525246"/>
            <a:chOff x="0" y="0"/>
            <a:chExt cx="1502918" cy="236301"/>
          </a:xfrm>
        </p:grpSpPr>
        <p:sp>
          <p:nvSpPr>
            <p:cNvPr id="18" name="Freeform 18"/>
            <p:cNvSpPr/>
            <p:nvPr/>
          </p:nvSpPr>
          <p:spPr>
            <a:xfrm>
              <a:off x="0" y="0"/>
              <a:ext cx="1502918" cy="236301"/>
            </a:xfrm>
            <a:custGeom>
              <a:avLst/>
              <a:gdLst/>
              <a:ahLst/>
              <a:cxnLst/>
              <a:rect l="l" t="t" r="r" b="b"/>
              <a:pathLst>
                <a:path w="1502918" h="236301">
                  <a:moveTo>
                    <a:pt x="18355" y="0"/>
                  </a:moveTo>
                  <a:lnTo>
                    <a:pt x="1484562" y="0"/>
                  </a:lnTo>
                  <a:cubicBezTo>
                    <a:pt x="1494700" y="0"/>
                    <a:pt x="1502918" y="8218"/>
                    <a:pt x="1502918" y="18355"/>
                  </a:cubicBezTo>
                  <a:lnTo>
                    <a:pt x="1502918" y="217945"/>
                  </a:lnTo>
                  <a:cubicBezTo>
                    <a:pt x="1502918" y="222813"/>
                    <a:pt x="1500984" y="227482"/>
                    <a:pt x="1497542" y="230924"/>
                  </a:cubicBezTo>
                  <a:cubicBezTo>
                    <a:pt x="1494099" y="234367"/>
                    <a:pt x="1489431" y="236301"/>
                    <a:pt x="1484562" y="236301"/>
                  </a:cubicBezTo>
                  <a:lnTo>
                    <a:pt x="18355" y="236301"/>
                  </a:lnTo>
                  <a:cubicBezTo>
                    <a:pt x="8218" y="236301"/>
                    <a:pt x="0" y="228083"/>
                    <a:pt x="0" y="217945"/>
                  </a:cubicBezTo>
                  <a:lnTo>
                    <a:pt x="0" y="18355"/>
                  </a:lnTo>
                  <a:cubicBezTo>
                    <a:pt x="0" y="8218"/>
                    <a:pt x="8218" y="0"/>
                    <a:pt x="18355" y="0"/>
                  </a:cubicBezTo>
                  <a:close/>
                </a:path>
              </a:pathLst>
            </a:custGeom>
            <a:solidFill>
              <a:srgbClr val="FFFFFF"/>
            </a:solidFill>
            <a:ln w="9525" cap="rnd">
              <a:solidFill>
                <a:srgbClr val="5170FF"/>
              </a:solidFill>
              <a:prstDash val="solid"/>
              <a:round/>
            </a:ln>
          </p:spPr>
        </p:sp>
      </p:grpSp>
      <p:grpSp>
        <p:nvGrpSpPr>
          <p:cNvPr id="19" name="Group 19"/>
          <p:cNvGrpSpPr/>
          <p:nvPr/>
        </p:nvGrpSpPr>
        <p:grpSpPr>
          <a:xfrm>
            <a:off x="374391" y="5710238"/>
            <a:ext cx="9700865" cy="1763460"/>
            <a:chOff x="0" y="0"/>
            <a:chExt cx="1502918" cy="273206"/>
          </a:xfrm>
        </p:grpSpPr>
        <p:sp>
          <p:nvSpPr>
            <p:cNvPr id="20" name="Freeform 20"/>
            <p:cNvSpPr/>
            <p:nvPr/>
          </p:nvSpPr>
          <p:spPr>
            <a:xfrm>
              <a:off x="0" y="0"/>
              <a:ext cx="1502918" cy="273206"/>
            </a:xfrm>
            <a:custGeom>
              <a:avLst/>
              <a:gdLst/>
              <a:ahLst/>
              <a:cxnLst/>
              <a:rect l="l" t="t" r="r" b="b"/>
              <a:pathLst>
                <a:path w="1502918" h="273206">
                  <a:moveTo>
                    <a:pt x="18355" y="0"/>
                  </a:moveTo>
                  <a:lnTo>
                    <a:pt x="1484562" y="0"/>
                  </a:lnTo>
                  <a:cubicBezTo>
                    <a:pt x="1494700" y="0"/>
                    <a:pt x="1502918" y="8218"/>
                    <a:pt x="1502918" y="18355"/>
                  </a:cubicBezTo>
                  <a:lnTo>
                    <a:pt x="1502918" y="254851"/>
                  </a:lnTo>
                  <a:cubicBezTo>
                    <a:pt x="1502918" y="264988"/>
                    <a:pt x="1494700" y="273206"/>
                    <a:pt x="1484562" y="273206"/>
                  </a:cubicBezTo>
                  <a:lnTo>
                    <a:pt x="18355" y="273206"/>
                  </a:lnTo>
                  <a:cubicBezTo>
                    <a:pt x="8218" y="273206"/>
                    <a:pt x="0" y="264988"/>
                    <a:pt x="0" y="254851"/>
                  </a:cubicBezTo>
                  <a:lnTo>
                    <a:pt x="0" y="18355"/>
                  </a:lnTo>
                  <a:cubicBezTo>
                    <a:pt x="0" y="8218"/>
                    <a:pt x="8218" y="0"/>
                    <a:pt x="18355" y="0"/>
                  </a:cubicBezTo>
                  <a:close/>
                </a:path>
              </a:pathLst>
            </a:custGeom>
            <a:solidFill>
              <a:srgbClr val="FFFFFF"/>
            </a:solidFill>
            <a:ln w="9525" cap="rnd">
              <a:solidFill>
                <a:srgbClr val="5170FF"/>
              </a:solidFill>
              <a:prstDash val="solid"/>
              <a:round/>
            </a:ln>
          </p:spPr>
        </p:sp>
      </p:grpSp>
      <p:grpSp>
        <p:nvGrpSpPr>
          <p:cNvPr id="21" name="Group 21"/>
          <p:cNvGrpSpPr/>
          <p:nvPr/>
        </p:nvGrpSpPr>
        <p:grpSpPr>
          <a:xfrm>
            <a:off x="374391" y="7888035"/>
            <a:ext cx="9700865" cy="2035234"/>
            <a:chOff x="0" y="0"/>
            <a:chExt cx="1502918" cy="315311"/>
          </a:xfrm>
        </p:grpSpPr>
        <p:sp>
          <p:nvSpPr>
            <p:cNvPr id="22" name="Freeform 22"/>
            <p:cNvSpPr/>
            <p:nvPr/>
          </p:nvSpPr>
          <p:spPr>
            <a:xfrm>
              <a:off x="0" y="0"/>
              <a:ext cx="1502918" cy="315311"/>
            </a:xfrm>
            <a:custGeom>
              <a:avLst/>
              <a:gdLst/>
              <a:ahLst/>
              <a:cxnLst/>
              <a:rect l="l" t="t" r="r" b="b"/>
              <a:pathLst>
                <a:path w="1502918" h="315311">
                  <a:moveTo>
                    <a:pt x="18355" y="0"/>
                  </a:moveTo>
                  <a:lnTo>
                    <a:pt x="1484562" y="0"/>
                  </a:lnTo>
                  <a:cubicBezTo>
                    <a:pt x="1494700" y="0"/>
                    <a:pt x="1502918" y="8218"/>
                    <a:pt x="1502918" y="18355"/>
                  </a:cubicBezTo>
                  <a:lnTo>
                    <a:pt x="1502918" y="296956"/>
                  </a:lnTo>
                  <a:cubicBezTo>
                    <a:pt x="1502918" y="307093"/>
                    <a:pt x="1494700" y="315311"/>
                    <a:pt x="1484562" y="315311"/>
                  </a:cubicBezTo>
                  <a:lnTo>
                    <a:pt x="18355" y="315311"/>
                  </a:lnTo>
                  <a:cubicBezTo>
                    <a:pt x="8218" y="315311"/>
                    <a:pt x="0" y="307093"/>
                    <a:pt x="0" y="296956"/>
                  </a:cubicBezTo>
                  <a:lnTo>
                    <a:pt x="0" y="18355"/>
                  </a:lnTo>
                  <a:cubicBezTo>
                    <a:pt x="0" y="8218"/>
                    <a:pt x="8218" y="0"/>
                    <a:pt x="18355" y="0"/>
                  </a:cubicBezTo>
                  <a:close/>
                </a:path>
              </a:pathLst>
            </a:custGeom>
            <a:solidFill>
              <a:srgbClr val="FFFFFF"/>
            </a:solidFill>
            <a:ln w="9525" cap="rnd">
              <a:solidFill>
                <a:srgbClr val="5170FF"/>
              </a:solidFill>
              <a:prstDash val="solid"/>
              <a:round/>
            </a:ln>
          </p:spPr>
        </p:sp>
      </p:grpSp>
      <p:grpSp>
        <p:nvGrpSpPr>
          <p:cNvPr id="23" name="Group 23"/>
          <p:cNvGrpSpPr/>
          <p:nvPr/>
        </p:nvGrpSpPr>
        <p:grpSpPr>
          <a:xfrm>
            <a:off x="10397532" y="6191114"/>
            <a:ext cx="1095485" cy="730881"/>
            <a:chOff x="0" y="0"/>
            <a:chExt cx="938582" cy="626199"/>
          </a:xfrm>
        </p:grpSpPr>
        <p:sp>
          <p:nvSpPr>
            <p:cNvPr id="24" name="Freeform 24"/>
            <p:cNvSpPr/>
            <p:nvPr/>
          </p:nvSpPr>
          <p:spPr>
            <a:xfrm>
              <a:off x="0" y="0"/>
              <a:ext cx="938582" cy="626199"/>
            </a:xfrm>
            <a:custGeom>
              <a:avLst/>
              <a:gdLst/>
              <a:ahLst/>
              <a:cxnLst/>
              <a:rect l="l" t="t" r="r" b="b"/>
              <a:pathLst>
                <a:path w="938582" h="626199">
                  <a:moveTo>
                    <a:pt x="938582" y="313100"/>
                  </a:moveTo>
                  <a:lnTo>
                    <a:pt x="532182" y="0"/>
                  </a:lnTo>
                  <a:lnTo>
                    <a:pt x="532182" y="203200"/>
                  </a:lnTo>
                  <a:lnTo>
                    <a:pt x="0" y="203200"/>
                  </a:lnTo>
                  <a:lnTo>
                    <a:pt x="0" y="422999"/>
                  </a:lnTo>
                  <a:lnTo>
                    <a:pt x="532182" y="422999"/>
                  </a:lnTo>
                  <a:lnTo>
                    <a:pt x="532182" y="626199"/>
                  </a:lnTo>
                  <a:lnTo>
                    <a:pt x="938582" y="313100"/>
                  </a:lnTo>
                  <a:close/>
                </a:path>
              </a:pathLst>
            </a:custGeom>
            <a:solidFill>
              <a:srgbClr val="5170FF"/>
            </a:solidFill>
          </p:spPr>
        </p:sp>
        <p:sp>
          <p:nvSpPr>
            <p:cNvPr id="25" name="TextBox 25"/>
            <p:cNvSpPr txBox="1"/>
            <p:nvPr/>
          </p:nvSpPr>
          <p:spPr>
            <a:xfrm>
              <a:off x="0" y="165100"/>
              <a:ext cx="836982" cy="257899"/>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27" name="TextBox 27"/>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8" name="TextBox 28"/>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9" name="TextBox 29"/>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0" name="TextBox 30"/>
          <p:cNvSpPr txBox="1"/>
          <p:nvPr/>
        </p:nvSpPr>
        <p:spPr>
          <a:xfrm>
            <a:off x="5705524" y="1769473"/>
            <a:ext cx="6876951" cy="1144274"/>
          </a:xfrm>
          <a:prstGeom prst="rect">
            <a:avLst/>
          </a:prstGeom>
        </p:spPr>
        <p:txBody>
          <a:bodyPr lIns="0" tIns="0" rIns="0" bIns="0" rtlCol="0" anchor="t">
            <a:spAutoFit/>
          </a:bodyPr>
          <a:lstStyle/>
          <a:p>
            <a:pPr algn="ctr">
              <a:lnSpc>
                <a:spcPts val="9379"/>
              </a:lnSpc>
              <a:spcBef>
                <a:spcPct val="0"/>
              </a:spcBef>
            </a:pPr>
            <a:r>
              <a:rPr lang="en-US" sz="6699" b="1">
                <a:solidFill>
                  <a:srgbClr val="FFFFFF"/>
                </a:solidFill>
                <a:latin typeface="Inter Bold"/>
                <a:ea typeface="Inter Bold"/>
                <a:cs typeface="Inter Bold"/>
                <a:sym typeface="Inter Bold"/>
              </a:rPr>
              <a:t>Lý do chọn đề tài</a:t>
            </a:r>
          </a:p>
        </p:txBody>
      </p:sp>
      <p:sp>
        <p:nvSpPr>
          <p:cNvPr id="31" name="TextBox 31"/>
          <p:cNvSpPr txBox="1"/>
          <p:nvPr/>
        </p:nvSpPr>
        <p:spPr>
          <a:xfrm>
            <a:off x="534252" y="3869702"/>
            <a:ext cx="9307760" cy="1289050"/>
          </a:xfrm>
          <a:prstGeom prst="rect">
            <a:avLst/>
          </a:prstGeom>
        </p:spPr>
        <p:txBody>
          <a:bodyPr lIns="0" tIns="0" rIns="0" bIns="0" rtlCol="0" anchor="t">
            <a:spAutoFit/>
          </a:bodyPr>
          <a:lstStyle/>
          <a:p>
            <a:pPr algn="just">
              <a:lnSpc>
                <a:spcPts val="3499"/>
              </a:lnSpc>
              <a:spcBef>
                <a:spcPct val="0"/>
              </a:spcBef>
            </a:pPr>
            <a:r>
              <a:rPr lang="en-US" sz="2499">
                <a:solidFill>
                  <a:srgbClr val="1800AD"/>
                </a:solidFill>
                <a:latin typeface="Inter"/>
                <a:ea typeface="Inter"/>
                <a:cs typeface="Inter"/>
                <a:sym typeface="Inter"/>
              </a:rPr>
              <a:t>Người thiếu cân gặp nhiều khó khăn trong việc xây dựng chế độ dinh dưỡng phù hợp. Việc tăng cân không đúng cách có thể ảnh hưởng đến sức khỏe và khó đạt được hiệu quả lâu dài.</a:t>
            </a:r>
          </a:p>
        </p:txBody>
      </p:sp>
      <p:sp>
        <p:nvSpPr>
          <p:cNvPr id="32" name="TextBox 32"/>
          <p:cNvSpPr txBox="1"/>
          <p:nvPr/>
        </p:nvSpPr>
        <p:spPr>
          <a:xfrm>
            <a:off x="534252" y="5929312"/>
            <a:ext cx="9307760" cy="1289050"/>
          </a:xfrm>
          <a:prstGeom prst="rect">
            <a:avLst/>
          </a:prstGeom>
        </p:spPr>
        <p:txBody>
          <a:bodyPr lIns="0" tIns="0" rIns="0" bIns="0" rtlCol="0" anchor="t">
            <a:spAutoFit/>
          </a:bodyPr>
          <a:lstStyle/>
          <a:p>
            <a:pPr algn="just">
              <a:lnSpc>
                <a:spcPts val="3499"/>
              </a:lnSpc>
              <a:spcBef>
                <a:spcPct val="0"/>
              </a:spcBef>
            </a:pPr>
            <a:r>
              <a:rPr lang="en-US" sz="2499">
                <a:solidFill>
                  <a:srgbClr val="1800AD"/>
                </a:solidFill>
                <a:latin typeface="Inter"/>
                <a:ea typeface="Inter"/>
                <a:cs typeface="Inter"/>
                <a:sym typeface="Inter"/>
              </a:rPr>
              <a:t>Các giải pháp hiện có chưa đáp ứng đầy đủ nhu cầu tính toán dinh dưỡng, xây dựng thực đơn cá nhân hóa và theo dõi tiến trình tăng cân.</a:t>
            </a:r>
          </a:p>
        </p:txBody>
      </p:sp>
      <p:sp>
        <p:nvSpPr>
          <p:cNvPr id="33" name="TextBox 33"/>
          <p:cNvSpPr txBox="1"/>
          <p:nvPr/>
        </p:nvSpPr>
        <p:spPr>
          <a:xfrm>
            <a:off x="543777" y="7992810"/>
            <a:ext cx="9298235" cy="1727200"/>
          </a:xfrm>
          <a:prstGeom prst="rect">
            <a:avLst/>
          </a:prstGeom>
        </p:spPr>
        <p:txBody>
          <a:bodyPr lIns="0" tIns="0" rIns="0" bIns="0" rtlCol="0" anchor="t">
            <a:spAutoFit/>
          </a:bodyPr>
          <a:lstStyle/>
          <a:p>
            <a:pPr algn="just">
              <a:lnSpc>
                <a:spcPts val="3499"/>
              </a:lnSpc>
              <a:spcBef>
                <a:spcPct val="0"/>
              </a:spcBef>
            </a:pPr>
            <a:r>
              <a:rPr lang="en-US" sz="2499">
                <a:solidFill>
                  <a:srgbClr val="1800AD"/>
                </a:solidFill>
                <a:latin typeface="Inter"/>
                <a:ea typeface="Inter"/>
                <a:cs typeface="Inter"/>
                <a:sym typeface="Inter"/>
              </a:rPr>
              <a:t>Sự phát triển của công nghệ thông tin tạo điều kiện xây dựng các hệ thống hỗ trợ quản lý dinh dưỡng, giúp người dùng tiếp cận phương pháp tăng cân khoa học, thuận tiện và hiệu quả hơn.</a:t>
            </a:r>
          </a:p>
        </p:txBody>
      </p:sp>
      <p:sp>
        <p:nvSpPr>
          <p:cNvPr id="34" name="TextBox 34"/>
          <p:cNvSpPr txBox="1"/>
          <p:nvPr/>
        </p:nvSpPr>
        <p:spPr>
          <a:xfrm>
            <a:off x="11816185" y="5229225"/>
            <a:ext cx="6025634" cy="2537461"/>
          </a:xfrm>
          <a:prstGeom prst="rect">
            <a:avLst/>
          </a:prstGeom>
        </p:spPr>
        <p:txBody>
          <a:bodyPr lIns="0" tIns="0" rIns="0" bIns="0" rtlCol="0" anchor="t">
            <a:spAutoFit/>
          </a:bodyPr>
          <a:lstStyle/>
          <a:p>
            <a:pPr algn="just">
              <a:lnSpc>
                <a:spcPts val="5039"/>
              </a:lnSpc>
              <a:spcBef>
                <a:spcPct val="0"/>
              </a:spcBef>
            </a:pPr>
            <a:r>
              <a:rPr lang="en-US" sz="3599" b="1">
                <a:solidFill>
                  <a:srgbClr val="FFBD59"/>
                </a:solidFill>
                <a:latin typeface="Inter Bold"/>
                <a:ea typeface="Inter Bold"/>
                <a:cs typeface="Inter Bold"/>
                <a:sym typeface="Inter Bold"/>
              </a:rPr>
              <a:t>Phát triển hệ thống gợi ý thực phẩm hỗ trợ tăng cân lành mạnh cho người thiếu cân</a:t>
            </a:r>
          </a:p>
        </p:txBody>
      </p:sp>
      <p:sp>
        <p:nvSpPr>
          <p:cNvPr id="35" name="TextBox 35"/>
          <p:cNvSpPr txBox="1"/>
          <p:nvPr/>
        </p:nvSpPr>
        <p:spPr>
          <a:xfrm>
            <a:off x="17631213" y="9508547"/>
            <a:ext cx="235843"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grpSp>
        <p:nvGrpSpPr>
          <p:cNvPr id="2" name="Group 2"/>
          <p:cNvGrpSpPr/>
          <p:nvPr/>
        </p:nvGrpSpPr>
        <p:grpSpPr>
          <a:xfrm>
            <a:off x="0" y="1703141"/>
            <a:ext cx="18288000" cy="1400763"/>
            <a:chOff x="0" y="0"/>
            <a:chExt cx="2833290" cy="217015"/>
          </a:xfrm>
        </p:grpSpPr>
        <p:sp>
          <p:nvSpPr>
            <p:cNvPr id="3" name="Freeform 3"/>
            <p:cNvSpPr/>
            <p:nvPr/>
          </p:nvSpPr>
          <p:spPr>
            <a:xfrm>
              <a:off x="0" y="0"/>
              <a:ext cx="2833290" cy="217015"/>
            </a:xfrm>
            <a:custGeom>
              <a:avLst/>
              <a:gdLst/>
              <a:ahLst/>
              <a:cxnLst/>
              <a:rect l="l" t="t" r="r" b="b"/>
              <a:pathLst>
                <a:path w="2833290" h="217015">
                  <a:moveTo>
                    <a:pt x="0" y="0"/>
                  </a:moveTo>
                  <a:lnTo>
                    <a:pt x="2833290" y="0"/>
                  </a:lnTo>
                  <a:lnTo>
                    <a:pt x="2833290" y="217015"/>
                  </a:lnTo>
                  <a:lnTo>
                    <a:pt x="0" y="217015"/>
                  </a:lnTo>
                  <a:close/>
                </a:path>
              </a:pathLst>
            </a:custGeom>
            <a:solidFill>
              <a:srgbClr val="FFFFFF"/>
            </a:solidFill>
            <a:ln w="76200" cap="sq">
              <a:solidFill>
                <a:srgbClr val="F9F9F9"/>
              </a:solidFill>
              <a:prstDash val="solid"/>
              <a:miter/>
            </a:ln>
          </p:spPr>
        </p:sp>
      </p:grpSp>
      <p:grpSp>
        <p:nvGrpSpPr>
          <p:cNvPr id="4" name="Group 4"/>
          <p:cNvGrpSpPr/>
          <p:nvPr/>
        </p:nvGrpSpPr>
        <p:grpSpPr>
          <a:xfrm>
            <a:off x="6968643" y="467355"/>
            <a:ext cx="2262593" cy="961402"/>
            <a:chOff x="0" y="0"/>
            <a:chExt cx="594056" cy="252421"/>
          </a:xfrm>
        </p:grpSpPr>
        <p:sp>
          <p:nvSpPr>
            <p:cNvPr id="5" name="Freeform 5"/>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6" name="TextBox 6"/>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9842013" y="467355"/>
            <a:ext cx="2262593" cy="961402"/>
            <a:chOff x="0" y="0"/>
            <a:chExt cx="594056" cy="252421"/>
          </a:xfrm>
        </p:grpSpPr>
        <p:sp>
          <p:nvSpPr>
            <p:cNvPr id="8" name="Freeform 8"/>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9" name="TextBox 9"/>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2715382" y="458015"/>
            <a:ext cx="2262593" cy="961402"/>
            <a:chOff x="0" y="0"/>
            <a:chExt cx="594056" cy="252421"/>
          </a:xfrm>
        </p:grpSpPr>
        <p:sp>
          <p:nvSpPr>
            <p:cNvPr id="11" name="Freeform 11"/>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2" name="TextBox 12"/>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5579226" y="467355"/>
            <a:ext cx="2262593" cy="961402"/>
            <a:chOff x="0" y="0"/>
            <a:chExt cx="594056" cy="252421"/>
          </a:xfrm>
        </p:grpSpPr>
        <p:sp>
          <p:nvSpPr>
            <p:cNvPr id="14" name="Freeform 1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5" name="TextBox 1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028700" y="3541164"/>
            <a:ext cx="912773" cy="912773"/>
          </a:xfrm>
          <a:custGeom>
            <a:avLst/>
            <a:gdLst/>
            <a:ahLst/>
            <a:cxnLst/>
            <a:rect l="l" t="t" r="r" b="b"/>
            <a:pathLst>
              <a:path w="912773" h="912773">
                <a:moveTo>
                  <a:pt x="0" y="0"/>
                </a:moveTo>
                <a:lnTo>
                  <a:pt x="912773" y="0"/>
                </a:lnTo>
                <a:lnTo>
                  <a:pt x="912773" y="912772"/>
                </a:lnTo>
                <a:lnTo>
                  <a:pt x="0" y="912772"/>
                </a:lnTo>
                <a:lnTo>
                  <a:pt x="0" y="0"/>
                </a:lnTo>
                <a:close/>
              </a:path>
            </a:pathLst>
          </a:custGeom>
          <a:blipFill>
            <a:blip r:embed="rId2"/>
            <a:stretch>
              <a:fillRect/>
            </a:stretch>
          </a:blipFill>
        </p:spPr>
      </p:sp>
      <p:sp>
        <p:nvSpPr>
          <p:cNvPr id="17" name="TextBox 17"/>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18" name="TextBox 18"/>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19" name="TextBox 19"/>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0" name="TextBox 20"/>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1" name="TextBox 21"/>
          <p:cNvSpPr txBox="1"/>
          <p:nvPr/>
        </p:nvSpPr>
        <p:spPr>
          <a:xfrm>
            <a:off x="4966047" y="1769473"/>
            <a:ext cx="8355906" cy="1144274"/>
          </a:xfrm>
          <a:prstGeom prst="rect">
            <a:avLst/>
          </a:prstGeom>
        </p:spPr>
        <p:txBody>
          <a:bodyPr lIns="0" tIns="0" rIns="0" bIns="0" rtlCol="0" anchor="t">
            <a:spAutoFit/>
          </a:bodyPr>
          <a:lstStyle/>
          <a:p>
            <a:pPr algn="ctr">
              <a:lnSpc>
                <a:spcPts val="9379"/>
              </a:lnSpc>
              <a:spcBef>
                <a:spcPct val="0"/>
              </a:spcBef>
            </a:pPr>
            <a:r>
              <a:rPr lang="en-US" sz="6699" b="1">
                <a:solidFill>
                  <a:srgbClr val="1800AD"/>
                </a:solidFill>
                <a:latin typeface="Inter Bold"/>
                <a:ea typeface="Inter Bold"/>
                <a:cs typeface="Inter Bold"/>
                <a:sym typeface="Inter Bold"/>
              </a:rPr>
              <a:t>Mục tiêu nghiên cứu</a:t>
            </a:r>
          </a:p>
        </p:txBody>
      </p:sp>
      <p:sp>
        <p:nvSpPr>
          <p:cNvPr id="22" name="TextBox 22"/>
          <p:cNvSpPr txBox="1"/>
          <p:nvPr/>
        </p:nvSpPr>
        <p:spPr>
          <a:xfrm>
            <a:off x="2235120" y="3542054"/>
            <a:ext cx="8455641" cy="738507"/>
          </a:xfrm>
          <a:prstGeom prst="rect">
            <a:avLst/>
          </a:prstGeom>
        </p:spPr>
        <p:txBody>
          <a:bodyPr lIns="0" tIns="0" rIns="0" bIns="0" rtlCol="0" anchor="t">
            <a:spAutoFit/>
          </a:bodyPr>
          <a:lstStyle/>
          <a:p>
            <a:pPr algn="ctr">
              <a:lnSpc>
                <a:spcPts val="6019"/>
              </a:lnSpc>
              <a:spcBef>
                <a:spcPct val="0"/>
              </a:spcBef>
            </a:pPr>
            <a:r>
              <a:rPr lang="en-US" sz="4299" b="1">
                <a:solidFill>
                  <a:srgbClr val="FFBD59"/>
                </a:solidFill>
                <a:latin typeface="Inter Bold"/>
                <a:ea typeface="Inter Bold"/>
                <a:cs typeface="Inter Bold"/>
                <a:sym typeface="Inter Bold"/>
              </a:rPr>
              <a:t>Nghiên cứu nhu cầu dinh dưỡng</a:t>
            </a:r>
          </a:p>
        </p:txBody>
      </p:sp>
      <p:sp>
        <p:nvSpPr>
          <p:cNvPr id="23" name="TextBox 23"/>
          <p:cNvSpPr txBox="1"/>
          <p:nvPr/>
        </p:nvSpPr>
        <p:spPr>
          <a:xfrm>
            <a:off x="2497424" y="4251960"/>
            <a:ext cx="15279727" cy="1180466"/>
          </a:xfrm>
          <a:prstGeom prst="rect">
            <a:avLst/>
          </a:prstGeom>
        </p:spPr>
        <p:txBody>
          <a:bodyPr lIns="0" tIns="0" rIns="0" bIns="0" rtlCol="0" anchor="t">
            <a:spAutoFit/>
          </a:bodyPr>
          <a:lstStyle/>
          <a:p>
            <a:pPr algn="l">
              <a:lnSpc>
                <a:spcPts val="4759"/>
              </a:lnSpc>
              <a:spcBef>
                <a:spcPct val="0"/>
              </a:spcBef>
            </a:pPr>
            <a:r>
              <a:rPr lang="en-US" sz="3399" i="1">
                <a:solidFill>
                  <a:srgbClr val="FFFFFF"/>
                </a:solidFill>
                <a:latin typeface="Inter Italics"/>
                <a:ea typeface="Inter Italics"/>
                <a:cs typeface="Inter Italics"/>
                <a:sym typeface="Inter Italics"/>
              </a:rPr>
              <a:t>Nghiên cứu nhu cầu dinh dưỡng của người thiếu cân và các yếu tố ảnh hưởng đến quá trình tăng cân lành mạnh.</a:t>
            </a:r>
          </a:p>
        </p:txBody>
      </p:sp>
      <p:sp>
        <p:nvSpPr>
          <p:cNvPr id="24" name="TextBox 24"/>
          <p:cNvSpPr txBox="1"/>
          <p:nvPr/>
        </p:nvSpPr>
        <p:spPr>
          <a:xfrm>
            <a:off x="2168445" y="5703439"/>
            <a:ext cx="5311807" cy="738505"/>
          </a:xfrm>
          <a:prstGeom prst="rect">
            <a:avLst/>
          </a:prstGeom>
        </p:spPr>
        <p:txBody>
          <a:bodyPr lIns="0" tIns="0" rIns="0" bIns="0" rtlCol="0" anchor="t">
            <a:spAutoFit/>
          </a:bodyPr>
          <a:lstStyle/>
          <a:p>
            <a:pPr algn="ctr">
              <a:lnSpc>
                <a:spcPts val="6019"/>
              </a:lnSpc>
              <a:spcBef>
                <a:spcPct val="0"/>
              </a:spcBef>
            </a:pPr>
            <a:r>
              <a:rPr lang="en-US" sz="4299" b="1">
                <a:solidFill>
                  <a:srgbClr val="FFBD59"/>
                </a:solidFill>
                <a:latin typeface="Inter Bold"/>
                <a:ea typeface="Inter Bold"/>
                <a:cs typeface="Inter Bold"/>
                <a:sym typeface="Inter Bold"/>
              </a:rPr>
              <a:t>Phát triển hệ thống</a:t>
            </a:r>
          </a:p>
        </p:txBody>
      </p:sp>
      <p:sp>
        <p:nvSpPr>
          <p:cNvPr id="25" name="TextBox 25"/>
          <p:cNvSpPr txBox="1"/>
          <p:nvPr/>
        </p:nvSpPr>
        <p:spPr>
          <a:xfrm>
            <a:off x="2497424" y="6419540"/>
            <a:ext cx="15009526" cy="1180465"/>
          </a:xfrm>
          <a:prstGeom prst="rect">
            <a:avLst/>
          </a:prstGeom>
        </p:spPr>
        <p:txBody>
          <a:bodyPr lIns="0" tIns="0" rIns="0" bIns="0" rtlCol="0" anchor="t">
            <a:spAutoFit/>
          </a:bodyPr>
          <a:lstStyle/>
          <a:p>
            <a:pPr algn="l">
              <a:lnSpc>
                <a:spcPts val="4759"/>
              </a:lnSpc>
              <a:spcBef>
                <a:spcPct val="0"/>
              </a:spcBef>
            </a:pPr>
            <a:r>
              <a:rPr lang="en-US" sz="3399" i="1">
                <a:solidFill>
                  <a:srgbClr val="FFFFFF"/>
                </a:solidFill>
                <a:latin typeface="Inter Italics"/>
                <a:ea typeface="Inter Italics"/>
                <a:cs typeface="Inter Italics"/>
                <a:sym typeface="Inter Italics"/>
              </a:rPr>
              <a:t>Xây dựng hệ thống hỗ trợ tính toán nhu cầu dinh dưỡng, gợi ý thực phẩm và thực đơn phù hợp với từng người dùng.</a:t>
            </a:r>
          </a:p>
        </p:txBody>
      </p:sp>
      <p:sp>
        <p:nvSpPr>
          <p:cNvPr id="26" name="TextBox 26"/>
          <p:cNvSpPr txBox="1"/>
          <p:nvPr/>
        </p:nvSpPr>
        <p:spPr>
          <a:xfrm>
            <a:off x="2168445" y="7876230"/>
            <a:ext cx="5137810" cy="738505"/>
          </a:xfrm>
          <a:prstGeom prst="rect">
            <a:avLst/>
          </a:prstGeom>
        </p:spPr>
        <p:txBody>
          <a:bodyPr lIns="0" tIns="0" rIns="0" bIns="0" rtlCol="0" anchor="t">
            <a:spAutoFit/>
          </a:bodyPr>
          <a:lstStyle/>
          <a:p>
            <a:pPr algn="ctr">
              <a:lnSpc>
                <a:spcPts val="6019"/>
              </a:lnSpc>
              <a:spcBef>
                <a:spcPct val="0"/>
              </a:spcBef>
            </a:pPr>
            <a:r>
              <a:rPr lang="en-US" sz="4299" b="1">
                <a:solidFill>
                  <a:srgbClr val="FFBD59"/>
                </a:solidFill>
                <a:latin typeface="Inter Bold"/>
                <a:ea typeface="Inter Bold"/>
                <a:cs typeface="Inter Bold"/>
                <a:sym typeface="Inter Bold"/>
              </a:rPr>
              <a:t>Đánh giá hệ thống</a:t>
            </a:r>
          </a:p>
        </p:txBody>
      </p:sp>
      <p:sp>
        <p:nvSpPr>
          <p:cNvPr id="27" name="TextBox 27"/>
          <p:cNvSpPr txBox="1"/>
          <p:nvPr/>
        </p:nvSpPr>
        <p:spPr>
          <a:xfrm>
            <a:off x="2527749" y="8646763"/>
            <a:ext cx="15009526" cy="1180465"/>
          </a:xfrm>
          <a:prstGeom prst="rect">
            <a:avLst/>
          </a:prstGeom>
        </p:spPr>
        <p:txBody>
          <a:bodyPr lIns="0" tIns="0" rIns="0" bIns="0" rtlCol="0" anchor="t">
            <a:spAutoFit/>
          </a:bodyPr>
          <a:lstStyle/>
          <a:p>
            <a:pPr algn="l">
              <a:lnSpc>
                <a:spcPts val="4759"/>
              </a:lnSpc>
              <a:spcBef>
                <a:spcPct val="0"/>
              </a:spcBef>
            </a:pPr>
            <a:r>
              <a:rPr lang="en-US" sz="3399" i="1">
                <a:solidFill>
                  <a:srgbClr val="FFFFFF"/>
                </a:solidFill>
                <a:latin typeface="Inter Italics"/>
                <a:ea typeface="Inter Italics"/>
                <a:cs typeface="Inter Italics"/>
                <a:sym typeface="Inter Italics"/>
              </a:rPr>
              <a:t>Kiểm thử và đánh giá tính chính xác, tính ổn định và khả năng đáp ứng nhu cầu hỗ trợ tăng cân của hệ thống.</a:t>
            </a:r>
          </a:p>
        </p:txBody>
      </p:sp>
      <p:sp>
        <p:nvSpPr>
          <p:cNvPr id="28" name="Freeform 28"/>
          <p:cNvSpPr/>
          <p:nvPr/>
        </p:nvSpPr>
        <p:spPr>
          <a:xfrm>
            <a:off x="1028700" y="5744893"/>
            <a:ext cx="912773" cy="912773"/>
          </a:xfrm>
          <a:custGeom>
            <a:avLst/>
            <a:gdLst/>
            <a:ahLst/>
            <a:cxnLst/>
            <a:rect l="l" t="t" r="r" b="b"/>
            <a:pathLst>
              <a:path w="912773" h="912773">
                <a:moveTo>
                  <a:pt x="0" y="0"/>
                </a:moveTo>
                <a:lnTo>
                  <a:pt x="912773" y="0"/>
                </a:lnTo>
                <a:lnTo>
                  <a:pt x="912773" y="912772"/>
                </a:lnTo>
                <a:lnTo>
                  <a:pt x="0" y="912772"/>
                </a:lnTo>
                <a:lnTo>
                  <a:pt x="0" y="0"/>
                </a:lnTo>
                <a:close/>
              </a:path>
            </a:pathLst>
          </a:custGeom>
          <a:blipFill>
            <a:blip r:embed="rId2"/>
            <a:stretch>
              <a:fillRect/>
            </a:stretch>
          </a:blipFill>
        </p:spPr>
      </p:sp>
      <p:sp>
        <p:nvSpPr>
          <p:cNvPr id="29" name="Freeform 29"/>
          <p:cNvSpPr/>
          <p:nvPr/>
        </p:nvSpPr>
        <p:spPr>
          <a:xfrm>
            <a:off x="1028700" y="7953065"/>
            <a:ext cx="912773" cy="912773"/>
          </a:xfrm>
          <a:custGeom>
            <a:avLst/>
            <a:gdLst/>
            <a:ahLst/>
            <a:cxnLst/>
            <a:rect l="l" t="t" r="r" b="b"/>
            <a:pathLst>
              <a:path w="912773" h="912773">
                <a:moveTo>
                  <a:pt x="0" y="0"/>
                </a:moveTo>
                <a:lnTo>
                  <a:pt x="912773" y="0"/>
                </a:lnTo>
                <a:lnTo>
                  <a:pt x="912773" y="912773"/>
                </a:lnTo>
                <a:lnTo>
                  <a:pt x="0" y="912773"/>
                </a:lnTo>
                <a:lnTo>
                  <a:pt x="0" y="0"/>
                </a:lnTo>
                <a:close/>
              </a:path>
            </a:pathLst>
          </a:custGeom>
          <a:blipFill>
            <a:blip r:embed="rId2"/>
            <a:stretch>
              <a:fillRect/>
            </a:stretch>
          </a:blipFill>
        </p:spPr>
      </p:sp>
      <p:sp>
        <p:nvSpPr>
          <p:cNvPr id="30" name="TextBox 30"/>
          <p:cNvSpPr txBox="1"/>
          <p:nvPr/>
        </p:nvSpPr>
        <p:spPr>
          <a:xfrm>
            <a:off x="17628386" y="9508547"/>
            <a:ext cx="241498" cy="521336"/>
          </a:xfrm>
          <a:prstGeom prst="rect">
            <a:avLst/>
          </a:prstGeom>
        </p:spPr>
        <p:txBody>
          <a:bodyPr lIns="0" tIns="0" rIns="0" bIns="0" rtlCol="0" anchor="t">
            <a:spAutoFit/>
          </a:bodyPr>
          <a:lstStyle/>
          <a:p>
            <a:pPr algn="ctr">
              <a:lnSpc>
                <a:spcPts val="4339"/>
              </a:lnSpc>
              <a:spcBef>
                <a:spcPct val="0"/>
              </a:spcBef>
            </a:pPr>
            <a:r>
              <a:rPr lang="en-US" sz="3099">
                <a:solidFill>
                  <a:srgbClr val="FFFFFF"/>
                </a:solidFill>
                <a:latin typeface="Inter"/>
                <a:ea typeface="Inter"/>
                <a:cs typeface="Inter"/>
                <a:sym typeface="Inter"/>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55719" y="1973028"/>
            <a:ext cx="5429154" cy="1142664"/>
            <a:chOff x="0" y="0"/>
            <a:chExt cx="889567" cy="187226"/>
          </a:xfrm>
        </p:grpSpPr>
        <p:sp>
          <p:nvSpPr>
            <p:cNvPr id="16" name="Freeform 16"/>
            <p:cNvSpPr/>
            <p:nvPr/>
          </p:nvSpPr>
          <p:spPr>
            <a:xfrm>
              <a:off x="0" y="0"/>
              <a:ext cx="889567" cy="187226"/>
            </a:xfrm>
            <a:custGeom>
              <a:avLst/>
              <a:gdLst/>
              <a:ahLst/>
              <a:cxnLst/>
              <a:rect l="l" t="t" r="r" b="b"/>
              <a:pathLst>
                <a:path w="889567" h="187226">
                  <a:moveTo>
                    <a:pt x="0" y="0"/>
                  </a:moveTo>
                  <a:lnTo>
                    <a:pt x="889567" y="0"/>
                  </a:lnTo>
                  <a:lnTo>
                    <a:pt x="889567" y="187226"/>
                  </a:lnTo>
                  <a:lnTo>
                    <a:pt x="0" y="187226"/>
                  </a:lnTo>
                  <a:close/>
                </a:path>
              </a:pathLst>
            </a:custGeom>
            <a:solidFill>
              <a:srgbClr val="1800AD"/>
            </a:solidFill>
            <a:ln w="38100" cap="sq">
              <a:solidFill>
                <a:srgbClr val="FFFFFF"/>
              </a:solidFill>
              <a:prstDash val="solid"/>
              <a:miter/>
            </a:ln>
          </p:spPr>
        </p:sp>
      </p:grpSp>
      <p:sp>
        <p:nvSpPr>
          <p:cNvPr id="17" name="TextBox 17"/>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18" name="TextBox 18"/>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19" name="TextBox 19"/>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0" name="TextBox 20"/>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1" name="TextBox 21"/>
          <p:cNvSpPr txBox="1"/>
          <p:nvPr/>
        </p:nvSpPr>
        <p:spPr>
          <a:xfrm>
            <a:off x="509267" y="2154676"/>
            <a:ext cx="4996499" cy="622936"/>
          </a:xfrm>
          <a:prstGeom prst="rect">
            <a:avLst/>
          </a:prstGeom>
        </p:spPr>
        <p:txBody>
          <a:bodyPr lIns="0" tIns="0" rIns="0" bIns="0" rtlCol="0" anchor="t">
            <a:spAutoFit/>
          </a:bodyPr>
          <a:lstStyle/>
          <a:p>
            <a:pPr algn="ctr">
              <a:lnSpc>
                <a:spcPts val="5039"/>
              </a:lnSpc>
              <a:spcBef>
                <a:spcPct val="0"/>
              </a:spcBef>
            </a:pPr>
            <a:r>
              <a:rPr lang="en-US" sz="3599" b="1">
                <a:solidFill>
                  <a:srgbClr val="FFFFFF"/>
                </a:solidFill>
                <a:latin typeface="Inter Bold"/>
                <a:ea typeface="Inter Bold"/>
                <a:cs typeface="Inter Bold"/>
                <a:sym typeface="Inter Bold"/>
              </a:rPr>
              <a:t>Đối tượng nghiên cứu</a:t>
            </a:r>
          </a:p>
        </p:txBody>
      </p:sp>
      <p:sp>
        <p:nvSpPr>
          <p:cNvPr id="22" name="TextBox 22"/>
          <p:cNvSpPr txBox="1"/>
          <p:nvPr/>
        </p:nvSpPr>
        <p:spPr>
          <a:xfrm>
            <a:off x="355719" y="3345296"/>
            <a:ext cx="5121472" cy="1180466"/>
          </a:xfrm>
          <a:prstGeom prst="rect">
            <a:avLst/>
          </a:prstGeom>
        </p:spPr>
        <p:txBody>
          <a:bodyPr lIns="0" tIns="0" rIns="0" bIns="0" rtlCol="0" anchor="t">
            <a:spAutoFit/>
          </a:bodyPr>
          <a:lstStyle/>
          <a:p>
            <a:pPr marL="734051" lvl="1" indent="-367026" algn="l">
              <a:lnSpc>
                <a:spcPts val="4759"/>
              </a:lnSpc>
              <a:spcBef>
                <a:spcPct val="0"/>
              </a:spcBef>
              <a:buFont typeface="Arial"/>
              <a:buChar char="•"/>
            </a:pPr>
            <a:r>
              <a:rPr lang="en-US" sz="3399">
                <a:solidFill>
                  <a:srgbClr val="000000"/>
                </a:solidFill>
                <a:latin typeface="Inter"/>
                <a:ea typeface="Inter"/>
                <a:cs typeface="Inter"/>
                <a:sym typeface="Inter"/>
              </a:rPr>
              <a:t>Người thiếu cân, có nhu cầu tăng cân.</a:t>
            </a:r>
          </a:p>
        </p:txBody>
      </p:sp>
      <p:grpSp>
        <p:nvGrpSpPr>
          <p:cNvPr id="23" name="Group 23"/>
          <p:cNvGrpSpPr/>
          <p:nvPr/>
        </p:nvGrpSpPr>
        <p:grpSpPr>
          <a:xfrm>
            <a:off x="6332526" y="1973028"/>
            <a:ext cx="4917920" cy="1208482"/>
            <a:chOff x="0" y="0"/>
            <a:chExt cx="761914" cy="187226"/>
          </a:xfrm>
        </p:grpSpPr>
        <p:sp>
          <p:nvSpPr>
            <p:cNvPr id="24" name="Freeform 24"/>
            <p:cNvSpPr/>
            <p:nvPr/>
          </p:nvSpPr>
          <p:spPr>
            <a:xfrm>
              <a:off x="0" y="0"/>
              <a:ext cx="761914" cy="187226"/>
            </a:xfrm>
            <a:custGeom>
              <a:avLst/>
              <a:gdLst/>
              <a:ahLst/>
              <a:cxnLst/>
              <a:rect l="l" t="t" r="r" b="b"/>
              <a:pathLst>
                <a:path w="761914" h="187226">
                  <a:moveTo>
                    <a:pt x="0" y="0"/>
                  </a:moveTo>
                  <a:lnTo>
                    <a:pt x="761914" y="0"/>
                  </a:lnTo>
                  <a:lnTo>
                    <a:pt x="761914" y="187226"/>
                  </a:lnTo>
                  <a:lnTo>
                    <a:pt x="0" y="187226"/>
                  </a:lnTo>
                  <a:close/>
                </a:path>
              </a:pathLst>
            </a:custGeom>
            <a:solidFill>
              <a:srgbClr val="1800AD"/>
            </a:solidFill>
            <a:ln w="38100" cap="sq">
              <a:solidFill>
                <a:srgbClr val="FFFFFF"/>
              </a:solidFill>
              <a:prstDash val="solid"/>
              <a:miter/>
            </a:ln>
          </p:spPr>
        </p:sp>
      </p:grpSp>
      <p:sp>
        <p:nvSpPr>
          <p:cNvPr id="25" name="TextBox 25"/>
          <p:cNvSpPr txBox="1"/>
          <p:nvPr/>
        </p:nvSpPr>
        <p:spPr>
          <a:xfrm>
            <a:off x="6505124" y="2227702"/>
            <a:ext cx="4532778" cy="622934"/>
          </a:xfrm>
          <a:prstGeom prst="rect">
            <a:avLst/>
          </a:prstGeom>
        </p:spPr>
        <p:txBody>
          <a:bodyPr lIns="0" tIns="0" rIns="0" bIns="0" rtlCol="0" anchor="t">
            <a:spAutoFit/>
          </a:bodyPr>
          <a:lstStyle/>
          <a:p>
            <a:pPr algn="ctr">
              <a:lnSpc>
                <a:spcPts val="5040"/>
              </a:lnSpc>
              <a:spcBef>
                <a:spcPct val="0"/>
              </a:spcBef>
            </a:pPr>
            <a:r>
              <a:rPr lang="en-US" sz="3600" b="1">
                <a:solidFill>
                  <a:srgbClr val="FFFFFF"/>
                </a:solidFill>
                <a:latin typeface="Inter Bold"/>
                <a:ea typeface="Inter Bold"/>
                <a:cs typeface="Inter Bold"/>
                <a:sym typeface="Inter Bold"/>
              </a:rPr>
              <a:t>Phạm vi nghiên cứu</a:t>
            </a:r>
          </a:p>
        </p:txBody>
      </p:sp>
      <p:sp>
        <p:nvSpPr>
          <p:cNvPr id="26" name="TextBox 26"/>
          <p:cNvSpPr txBox="1"/>
          <p:nvPr/>
        </p:nvSpPr>
        <p:spPr>
          <a:xfrm>
            <a:off x="6237276" y="3345296"/>
            <a:ext cx="4580403" cy="5380990"/>
          </a:xfrm>
          <a:prstGeom prst="rect">
            <a:avLst/>
          </a:prstGeom>
        </p:spPr>
        <p:txBody>
          <a:bodyPr lIns="0" tIns="0" rIns="0" bIns="0" rtlCol="0" anchor="t">
            <a:spAutoFit/>
          </a:bodyPr>
          <a:lstStyle/>
          <a:p>
            <a:pPr marL="734063" lvl="1" indent="-367031" algn="just">
              <a:lnSpc>
                <a:spcPts val="4760"/>
              </a:lnSpc>
              <a:spcBef>
                <a:spcPct val="0"/>
              </a:spcBef>
              <a:buFont typeface="Arial"/>
              <a:buChar char="•"/>
            </a:pPr>
            <a:r>
              <a:rPr lang="en-US" sz="3400">
                <a:solidFill>
                  <a:srgbClr val="000000"/>
                </a:solidFill>
                <a:latin typeface="Inter"/>
                <a:ea typeface="Inter"/>
                <a:cs typeface="Inter"/>
                <a:sym typeface="Inter"/>
              </a:rPr>
              <a:t>Nghiên cứu dinh dưỡng, BMI, BMR, TDEE.</a:t>
            </a:r>
          </a:p>
          <a:p>
            <a:pPr marL="734063" lvl="1" indent="-367031" algn="just">
              <a:lnSpc>
                <a:spcPts val="4760"/>
              </a:lnSpc>
              <a:spcBef>
                <a:spcPct val="0"/>
              </a:spcBef>
              <a:buFont typeface="Arial"/>
              <a:buChar char="•"/>
            </a:pPr>
            <a:r>
              <a:rPr lang="en-US" sz="3400">
                <a:solidFill>
                  <a:srgbClr val="000000"/>
                </a:solidFill>
                <a:latin typeface="Inter"/>
                <a:ea typeface="Inter"/>
                <a:cs typeface="Inter"/>
                <a:sym typeface="Inter"/>
              </a:rPr>
              <a:t>Xây dựng hệ thống gợi ý thực phẩm và thực đơn.</a:t>
            </a:r>
          </a:p>
          <a:p>
            <a:pPr marL="734063" lvl="1" indent="-367031" algn="just">
              <a:lnSpc>
                <a:spcPts val="4760"/>
              </a:lnSpc>
              <a:spcBef>
                <a:spcPct val="0"/>
              </a:spcBef>
              <a:buFont typeface="Arial"/>
              <a:buChar char="•"/>
            </a:pPr>
            <a:r>
              <a:rPr lang="en-US" sz="3400">
                <a:solidFill>
                  <a:srgbClr val="000000"/>
                </a:solidFill>
                <a:latin typeface="Inter"/>
                <a:ea typeface="Inter"/>
                <a:cs typeface="Inter"/>
                <a:sym typeface="Inter"/>
              </a:rPr>
              <a:t>Thiết kế website theo dõi quá trình tăng cân.</a:t>
            </a:r>
          </a:p>
        </p:txBody>
      </p:sp>
      <p:grpSp>
        <p:nvGrpSpPr>
          <p:cNvPr id="27" name="Group 27"/>
          <p:cNvGrpSpPr/>
          <p:nvPr/>
        </p:nvGrpSpPr>
        <p:grpSpPr>
          <a:xfrm>
            <a:off x="11850521" y="1973028"/>
            <a:ext cx="6048449" cy="1142664"/>
            <a:chOff x="0" y="0"/>
            <a:chExt cx="937063" cy="177029"/>
          </a:xfrm>
        </p:grpSpPr>
        <p:sp>
          <p:nvSpPr>
            <p:cNvPr id="28" name="Freeform 28"/>
            <p:cNvSpPr/>
            <p:nvPr/>
          </p:nvSpPr>
          <p:spPr>
            <a:xfrm>
              <a:off x="0" y="0"/>
              <a:ext cx="937063" cy="177029"/>
            </a:xfrm>
            <a:custGeom>
              <a:avLst/>
              <a:gdLst/>
              <a:ahLst/>
              <a:cxnLst/>
              <a:rect l="l" t="t" r="r" b="b"/>
              <a:pathLst>
                <a:path w="937063" h="177029">
                  <a:moveTo>
                    <a:pt x="0" y="0"/>
                  </a:moveTo>
                  <a:lnTo>
                    <a:pt x="937063" y="0"/>
                  </a:lnTo>
                  <a:lnTo>
                    <a:pt x="937063" y="177029"/>
                  </a:lnTo>
                  <a:lnTo>
                    <a:pt x="0" y="177029"/>
                  </a:lnTo>
                  <a:close/>
                </a:path>
              </a:pathLst>
            </a:custGeom>
            <a:solidFill>
              <a:srgbClr val="1800AD"/>
            </a:solidFill>
            <a:ln w="38100" cap="sq">
              <a:solidFill>
                <a:srgbClr val="FFFFFF"/>
              </a:solidFill>
              <a:prstDash val="solid"/>
              <a:miter/>
            </a:ln>
          </p:spPr>
        </p:sp>
      </p:grpSp>
      <p:sp>
        <p:nvSpPr>
          <p:cNvPr id="29" name="TextBox 29"/>
          <p:cNvSpPr txBox="1"/>
          <p:nvPr/>
        </p:nvSpPr>
        <p:spPr>
          <a:xfrm>
            <a:off x="12097080" y="2194793"/>
            <a:ext cx="5573215" cy="622935"/>
          </a:xfrm>
          <a:prstGeom prst="rect">
            <a:avLst/>
          </a:prstGeom>
        </p:spPr>
        <p:txBody>
          <a:bodyPr lIns="0" tIns="0" rIns="0" bIns="0" rtlCol="0" anchor="t">
            <a:spAutoFit/>
          </a:bodyPr>
          <a:lstStyle/>
          <a:p>
            <a:pPr algn="ctr">
              <a:lnSpc>
                <a:spcPts val="5040"/>
              </a:lnSpc>
              <a:spcBef>
                <a:spcPct val="0"/>
              </a:spcBef>
            </a:pPr>
            <a:r>
              <a:rPr lang="en-US" sz="3600" b="1">
                <a:solidFill>
                  <a:srgbClr val="FFFFFF"/>
                </a:solidFill>
                <a:latin typeface="Inter Bold"/>
                <a:ea typeface="Inter Bold"/>
                <a:cs typeface="Inter Bold"/>
                <a:sym typeface="Inter Bold"/>
              </a:rPr>
              <a:t>Phương pháp nghiên cứu</a:t>
            </a:r>
          </a:p>
        </p:txBody>
      </p:sp>
      <p:sp>
        <p:nvSpPr>
          <p:cNvPr id="30" name="TextBox 30"/>
          <p:cNvSpPr txBox="1"/>
          <p:nvPr/>
        </p:nvSpPr>
        <p:spPr>
          <a:xfrm>
            <a:off x="12275367" y="3345296"/>
            <a:ext cx="5405215" cy="2980690"/>
          </a:xfrm>
          <a:prstGeom prst="rect">
            <a:avLst/>
          </a:prstGeom>
        </p:spPr>
        <p:txBody>
          <a:bodyPr lIns="0" tIns="0" rIns="0" bIns="0" rtlCol="0" anchor="t">
            <a:spAutoFit/>
          </a:bodyPr>
          <a:lstStyle/>
          <a:p>
            <a:pPr marL="734059" lvl="1" indent="-367030" algn="just">
              <a:lnSpc>
                <a:spcPts val="4759"/>
              </a:lnSpc>
              <a:spcBef>
                <a:spcPct val="0"/>
              </a:spcBef>
              <a:buFont typeface="Arial"/>
              <a:buChar char="•"/>
            </a:pPr>
            <a:r>
              <a:rPr lang="en-US" sz="3399">
                <a:solidFill>
                  <a:srgbClr val="000000"/>
                </a:solidFill>
                <a:latin typeface="Inter"/>
                <a:ea typeface="Inter"/>
                <a:cs typeface="Inter"/>
                <a:sym typeface="Inter"/>
              </a:rPr>
              <a:t>Nghiên cứu tài liệu.</a:t>
            </a:r>
          </a:p>
          <a:p>
            <a:pPr marL="734059" lvl="1" indent="-367030" algn="just">
              <a:lnSpc>
                <a:spcPts val="4759"/>
              </a:lnSpc>
              <a:spcBef>
                <a:spcPct val="0"/>
              </a:spcBef>
              <a:buFont typeface="Arial"/>
              <a:buChar char="•"/>
            </a:pPr>
            <a:r>
              <a:rPr lang="en-US" sz="3399">
                <a:solidFill>
                  <a:srgbClr val="000000"/>
                </a:solidFill>
                <a:latin typeface="Inter"/>
                <a:ea typeface="Inter"/>
                <a:cs typeface="Inter"/>
                <a:sym typeface="Inter"/>
              </a:rPr>
              <a:t>Phân tích, thiết kế và xây dựng hệ thống.</a:t>
            </a:r>
          </a:p>
          <a:p>
            <a:pPr marL="734059" lvl="1" indent="-367030" algn="just">
              <a:lnSpc>
                <a:spcPts val="4759"/>
              </a:lnSpc>
              <a:spcBef>
                <a:spcPct val="0"/>
              </a:spcBef>
              <a:buFont typeface="Arial"/>
              <a:buChar char="•"/>
            </a:pPr>
            <a:r>
              <a:rPr lang="en-US" sz="3399">
                <a:solidFill>
                  <a:srgbClr val="000000"/>
                </a:solidFill>
                <a:latin typeface="Inter"/>
                <a:ea typeface="Inter"/>
                <a:cs typeface="Inter"/>
                <a:sym typeface="Inter"/>
              </a:rPr>
              <a:t>Kiểm thử và đánh giá kết quả.</a:t>
            </a:r>
          </a:p>
        </p:txBody>
      </p:sp>
      <p:sp>
        <p:nvSpPr>
          <p:cNvPr id="31" name="TextBox 31"/>
          <p:cNvSpPr txBox="1"/>
          <p:nvPr/>
        </p:nvSpPr>
        <p:spPr>
          <a:xfrm>
            <a:off x="17623226" y="9508547"/>
            <a:ext cx="251817"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0" y="1703141"/>
            <a:ext cx="18288000" cy="1112342"/>
            <a:chOff x="0" y="0"/>
            <a:chExt cx="2833290" cy="172331"/>
          </a:xfrm>
        </p:grpSpPr>
        <p:sp>
          <p:nvSpPr>
            <p:cNvPr id="4" name="Freeform 4"/>
            <p:cNvSpPr/>
            <p:nvPr/>
          </p:nvSpPr>
          <p:spPr>
            <a:xfrm>
              <a:off x="0" y="0"/>
              <a:ext cx="2833290" cy="172331"/>
            </a:xfrm>
            <a:custGeom>
              <a:avLst/>
              <a:gdLst/>
              <a:ahLst/>
              <a:cxnLst/>
              <a:rect l="l" t="t" r="r" b="b"/>
              <a:pathLst>
                <a:path w="2833290" h="172331">
                  <a:moveTo>
                    <a:pt x="0" y="0"/>
                  </a:moveTo>
                  <a:lnTo>
                    <a:pt x="2833290" y="0"/>
                  </a:lnTo>
                  <a:lnTo>
                    <a:pt x="2833290" y="172331"/>
                  </a:lnTo>
                  <a:lnTo>
                    <a:pt x="0" y="172331"/>
                  </a:lnTo>
                  <a:close/>
                </a:path>
              </a:pathLst>
            </a:custGeom>
            <a:solidFill>
              <a:srgbClr val="1800AD"/>
            </a:solidFill>
            <a:ln w="76200" cap="sq">
              <a:solidFill>
                <a:srgbClr val="F9F9F9"/>
              </a:solidFill>
              <a:prstDash val="solid"/>
              <a:miter/>
            </a:ln>
          </p:spPr>
        </p:sp>
      </p:grpSp>
      <p:grpSp>
        <p:nvGrpSpPr>
          <p:cNvPr id="5" name="Group 5"/>
          <p:cNvGrpSpPr/>
          <p:nvPr/>
        </p:nvGrpSpPr>
        <p:grpSpPr>
          <a:xfrm>
            <a:off x="6968643" y="467355"/>
            <a:ext cx="2262593" cy="961402"/>
            <a:chOff x="0" y="0"/>
            <a:chExt cx="594056" cy="252421"/>
          </a:xfrm>
        </p:grpSpPr>
        <p:sp>
          <p:nvSpPr>
            <p:cNvPr id="6" name="Freeform 6"/>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9F9F9"/>
              </a:solidFill>
              <a:prstDash val="solid"/>
              <a:round/>
            </a:ln>
          </p:spPr>
        </p:sp>
        <p:sp>
          <p:nvSpPr>
            <p:cNvPr id="7" name="TextBox 7"/>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842013" y="467355"/>
            <a:ext cx="2262593" cy="961402"/>
            <a:chOff x="0" y="0"/>
            <a:chExt cx="594056" cy="252421"/>
          </a:xfrm>
        </p:grpSpPr>
        <p:sp>
          <p:nvSpPr>
            <p:cNvPr id="9" name="Freeform 9"/>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0" name="TextBox 10"/>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715382" y="458015"/>
            <a:ext cx="2262593" cy="961402"/>
            <a:chOff x="0" y="0"/>
            <a:chExt cx="594056" cy="252421"/>
          </a:xfrm>
        </p:grpSpPr>
        <p:sp>
          <p:nvSpPr>
            <p:cNvPr id="12" name="Freeform 12"/>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3" name="TextBox 13"/>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5579226" y="467355"/>
            <a:ext cx="2262593" cy="961402"/>
            <a:chOff x="0" y="0"/>
            <a:chExt cx="594056" cy="252421"/>
          </a:xfrm>
        </p:grpSpPr>
        <p:sp>
          <p:nvSpPr>
            <p:cNvPr id="15" name="Freeform 15"/>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6" name="TextBox 16"/>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44180" y="3431894"/>
            <a:ext cx="8837895" cy="1909966"/>
            <a:chOff x="0" y="0"/>
            <a:chExt cx="2327676" cy="503036"/>
          </a:xfrm>
        </p:grpSpPr>
        <p:sp>
          <p:nvSpPr>
            <p:cNvPr id="18" name="Freeform 18"/>
            <p:cNvSpPr/>
            <p:nvPr/>
          </p:nvSpPr>
          <p:spPr>
            <a:xfrm>
              <a:off x="0" y="0"/>
              <a:ext cx="2327676" cy="503036"/>
            </a:xfrm>
            <a:custGeom>
              <a:avLst/>
              <a:gdLst/>
              <a:ahLst/>
              <a:cxnLst/>
              <a:rect l="l" t="t" r="r" b="b"/>
              <a:pathLst>
                <a:path w="2327676" h="503036">
                  <a:moveTo>
                    <a:pt x="44676" y="0"/>
                  </a:moveTo>
                  <a:lnTo>
                    <a:pt x="2283000" y="0"/>
                  </a:lnTo>
                  <a:cubicBezTo>
                    <a:pt x="2307674" y="0"/>
                    <a:pt x="2327676" y="20002"/>
                    <a:pt x="2327676" y="44676"/>
                  </a:cubicBezTo>
                  <a:lnTo>
                    <a:pt x="2327676" y="458361"/>
                  </a:lnTo>
                  <a:cubicBezTo>
                    <a:pt x="2327676" y="483034"/>
                    <a:pt x="2307674" y="503036"/>
                    <a:pt x="2283000" y="503036"/>
                  </a:cubicBezTo>
                  <a:lnTo>
                    <a:pt x="44676" y="503036"/>
                  </a:lnTo>
                  <a:cubicBezTo>
                    <a:pt x="20002" y="503036"/>
                    <a:pt x="0" y="483034"/>
                    <a:pt x="0" y="458361"/>
                  </a:cubicBezTo>
                  <a:lnTo>
                    <a:pt x="0" y="44676"/>
                  </a:lnTo>
                  <a:cubicBezTo>
                    <a:pt x="0" y="20002"/>
                    <a:pt x="20002" y="0"/>
                    <a:pt x="44676" y="0"/>
                  </a:cubicBezTo>
                  <a:close/>
                </a:path>
              </a:pathLst>
            </a:custGeom>
            <a:solidFill>
              <a:srgbClr val="FFFFFF"/>
            </a:solidFill>
            <a:ln w="9525" cap="rnd">
              <a:solidFill>
                <a:srgbClr val="004AAD"/>
              </a:solidFill>
              <a:prstDash val="solid"/>
              <a:round/>
            </a:ln>
          </p:spPr>
        </p:sp>
        <p:sp>
          <p:nvSpPr>
            <p:cNvPr id="19" name="TextBox 19"/>
            <p:cNvSpPr txBox="1"/>
            <p:nvPr/>
          </p:nvSpPr>
          <p:spPr>
            <a:xfrm>
              <a:off x="0" y="-38100"/>
              <a:ext cx="2327676" cy="541136"/>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2741325" y="3015508"/>
            <a:ext cx="3643605" cy="870871"/>
            <a:chOff x="0" y="0"/>
            <a:chExt cx="959633" cy="229365"/>
          </a:xfrm>
        </p:grpSpPr>
        <p:sp>
          <p:nvSpPr>
            <p:cNvPr id="21" name="Freeform 21"/>
            <p:cNvSpPr/>
            <p:nvPr/>
          </p:nvSpPr>
          <p:spPr>
            <a:xfrm>
              <a:off x="0" y="0"/>
              <a:ext cx="959633" cy="229365"/>
            </a:xfrm>
            <a:custGeom>
              <a:avLst/>
              <a:gdLst/>
              <a:ahLst/>
              <a:cxnLst/>
              <a:rect l="l" t="t" r="r" b="b"/>
              <a:pathLst>
                <a:path w="959633" h="229365">
                  <a:moveTo>
                    <a:pt x="108365" y="0"/>
                  </a:moveTo>
                  <a:lnTo>
                    <a:pt x="851268" y="0"/>
                  </a:lnTo>
                  <a:cubicBezTo>
                    <a:pt x="880008" y="0"/>
                    <a:pt x="907571" y="11417"/>
                    <a:pt x="927893" y="31739"/>
                  </a:cubicBezTo>
                  <a:cubicBezTo>
                    <a:pt x="948216" y="52062"/>
                    <a:pt x="959633" y="79625"/>
                    <a:pt x="959633" y="108365"/>
                  </a:cubicBezTo>
                  <a:lnTo>
                    <a:pt x="959633" y="121001"/>
                  </a:lnTo>
                  <a:cubicBezTo>
                    <a:pt x="959633" y="149741"/>
                    <a:pt x="948216" y="177304"/>
                    <a:pt x="927893" y="197626"/>
                  </a:cubicBezTo>
                  <a:cubicBezTo>
                    <a:pt x="907571" y="217948"/>
                    <a:pt x="880008" y="229365"/>
                    <a:pt x="851268" y="229365"/>
                  </a:cubicBezTo>
                  <a:lnTo>
                    <a:pt x="108365" y="229365"/>
                  </a:lnTo>
                  <a:cubicBezTo>
                    <a:pt x="79625" y="229365"/>
                    <a:pt x="52062" y="217948"/>
                    <a:pt x="31739" y="197626"/>
                  </a:cubicBezTo>
                  <a:cubicBezTo>
                    <a:pt x="11417" y="177304"/>
                    <a:pt x="0" y="149741"/>
                    <a:pt x="0" y="121001"/>
                  </a:cubicBezTo>
                  <a:lnTo>
                    <a:pt x="0" y="108365"/>
                  </a:lnTo>
                  <a:cubicBezTo>
                    <a:pt x="0" y="79625"/>
                    <a:pt x="11417" y="52062"/>
                    <a:pt x="31739" y="31739"/>
                  </a:cubicBezTo>
                  <a:cubicBezTo>
                    <a:pt x="52062" y="11417"/>
                    <a:pt x="79625" y="0"/>
                    <a:pt x="108365" y="0"/>
                  </a:cubicBezTo>
                  <a:close/>
                </a:path>
              </a:pathLst>
            </a:custGeom>
            <a:solidFill>
              <a:srgbClr val="5170FF"/>
            </a:solidFill>
          </p:spPr>
        </p:sp>
        <p:sp>
          <p:nvSpPr>
            <p:cNvPr id="22" name="TextBox 22"/>
            <p:cNvSpPr txBox="1"/>
            <p:nvPr/>
          </p:nvSpPr>
          <p:spPr>
            <a:xfrm>
              <a:off x="0" y="-38100"/>
              <a:ext cx="959633" cy="267465"/>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3113994" y="3174123"/>
            <a:ext cx="515542" cy="515542"/>
          </a:xfrm>
          <a:custGeom>
            <a:avLst/>
            <a:gdLst/>
            <a:ahLst/>
            <a:cxnLst/>
            <a:rect l="l" t="t" r="r" b="b"/>
            <a:pathLst>
              <a:path w="515542" h="515542">
                <a:moveTo>
                  <a:pt x="0" y="0"/>
                </a:moveTo>
                <a:lnTo>
                  <a:pt x="515542" y="0"/>
                </a:lnTo>
                <a:lnTo>
                  <a:pt x="515542" y="515542"/>
                </a:lnTo>
                <a:lnTo>
                  <a:pt x="0" y="515542"/>
                </a:lnTo>
                <a:lnTo>
                  <a:pt x="0" y="0"/>
                </a:lnTo>
                <a:close/>
              </a:path>
            </a:pathLst>
          </a:custGeom>
          <a:blipFill>
            <a:blip r:embed="rId2"/>
            <a:stretch>
              <a:fillRect/>
            </a:stretch>
          </a:blipFill>
        </p:spPr>
      </p:sp>
      <p:sp>
        <p:nvSpPr>
          <p:cNvPr id="24" name="Freeform 24"/>
          <p:cNvSpPr/>
          <p:nvPr/>
        </p:nvSpPr>
        <p:spPr>
          <a:xfrm>
            <a:off x="714255" y="4012668"/>
            <a:ext cx="1235469" cy="1102257"/>
          </a:xfrm>
          <a:custGeom>
            <a:avLst/>
            <a:gdLst/>
            <a:ahLst/>
            <a:cxnLst/>
            <a:rect l="l" t="t" r="r" b="b"/>
            <a:pathLst>
              <a:path w="1235469" h="1102257">
                <a:moveTo>
                  <a:pt x="0" y="0"/>
                </a:moveTo>
                <a:lnTo>
                  <a:pt x="1235469" y="0"/>
                </a:lnTo>
                <a:lnTo>
                  <a:pt x="1235469" y="1102257"/>
                </a:lnTo>
                <a:lnTo>
                  <a:pt x="0" y="1102257"/>
                </a:lnTo>
                <a:lnTo>
                  <a:pt x="0" y="0"/>
                </a:lnTo>
                <a:close/>
              </a:path>
            </a:pathLst>
          </a:custGeom>
          <a:blipFill>
            <a:blip r:embed="rId3"/>
            <a:stretch>
              <a:fillRect/>
            </a:stretch>
          </a:blipFill>
        </p:spPr>
      </p:sp>
      <p:sp>
        <p:nvSpPr>
          <p:cNvPr id="25" name="Freeform 25"/>
          <p:cNvSpPr/>
          <p:nvPr/>
        </p:nvSpPr>
        <p:spPr>
          <a:xfrm>
            <a:off x="3560848" y="4095930"/>
            <a:ext cx="1121403" cy="1102257"/>
          </a:xfrm>
          <a:custGeom>
            <a:avLst/>
            <a:gdLst/>
            <a:ahLst/>
            <a:cxnLst/>
            <a:rect l="l" t="t" r="r" b="b"/>
            <a:pathLst>
              <a:path w="1121403" h="1102257">
                <a:moveTo>
                  <a:pt x="0" y="0"/>
                </a:moveTo>
                <a:lnTo>
                  <a:pt x="1121403" y="0"/>
                </a:lnTo>
                <a:lnTo>
                  <a:pt x="1121403" y="1102257"/>
                </a:lnTo>
                <a:lnTo>
                  <a:pt x="0" y="1102257"/>
                </a:lnTo>
                <a:lnTo>
                  <a:pt x="0" y="0"/>
                </a:lnTo>
                <a:close/>
              </a:path>
            </a:pathLst>
          </a:custGeom>
          <a:blipFill>
            <a:blip r:embed="rId4"/>
            <a:stretch>
              <a:fillRect/>
            </a:stretch>
          </a:blipFill>
        </p:spPr>
      </p:sp>
      <p:sp>
        <p:nvSpPr>
          <p:cNvPr id="26" name="Freeform 26"/>
          <p:cNvSpPr/>
          <p:nvPr/>
        </p:nvSpPr>
        <p:spPr>
          <a:xfrm>
            <a:off x="6293375" y="4041243"/>
            <a:ext cx="1806565" cy="1102257"/>
          </a:xfrm>
          <a:custGeom>
            <a:avLst/>
            <a:gdLst/>
            <a:ahLst/>
            <a:cxnLst/>
            <a:rect l="l" t="t" r="r" b="b"/>
            <a:pathLst>
              <a:path w="1806565" h="1102257">
                <a:moveTo>
                  <a:pt x="0" y="0"/>
                </a:moveTo>
                <a:lnTo>
                  <a:pt x="1806565" y="0"/>
                </a:lnTo>
                <a:lnTo>
                  <a:pt x="1806565" y="1102257"/>
                </a:lnTo>
                <a:lnTo>
                  <a:pt x="0" y="1102257"/>
                </a:lnTo>
                <a:lnTo>
                  <a:pt x="0" y="0"/>
                </a:lnTo>
                <a:close/>
              </a:path>
            </a:pathLst>
          </a:custGeom>
          <a:blipFill>
            <a:blip r:embed="rId5"/>
            <a:stretch>
              <a:fillRect/>
            </a:stretch>
          </a:blipFill>
        </p:spPr>
      </p:sp>
      <p:grpSp>
        <p:nvGrpSpPr>
          <p:cNvPr id="27" name="Group 27"/>
          <p:cNvGrpSpPr/>
          <p:nvPr/>
        </p:nvGrpSpPr>
        <p:grpSpPr>
          <a:xfrm>
            <a:off x="9221711" y="3431894"/>
            <a:ext cx="8837895" cy="1909966"/>
            <a:chOff x="0" y="0"/>
            <a:chExt cx="2327676" cy="503036"/>
          </a:xfrm>
        </p:grpSpPr>
        <p:sp>
          <p:nvSpPr>
            <p:cNvPr id="28" name="Freeform 28"/>
            <p:cNvSpPr/>
            <p:nvPr/>
          </p:nvSpPr>
          <p:spPr>
            <a:xfrm>
              <a:off x="0" y="0"/>
              <a:ext cx="2327676" cy="503036"/>
            </a:xfrm>
            <a:custGeom>
              <a:avLst/>
              <a:gdLst/>
              <a:ahLst/>
              <a:cxnLst/>
              <a:rect l="l" t="t" r="r" b="b"/>
              <a:pathLst>
                <a:path w="2327676" h="503036">
                  <a:moveTo>
                    <a:pt x="44676" y="0"/>
                  </a:moveTo>
                  <a:lnTo>
                    <a:pt x="2283000" y="0"/>
                  </a:lnTo>
                  <a:cubicBezTo>
                    <a:pt x="2307674" y="0"/>
                    <a:pt x="2327676" y="20002"/>
                    <a:pt x="2327676" y="44676"/>
                  </a:cubicBezTo>
                  <a:lnTo>
                    <a:pt x="2327676" y="458361"/>
                  </a:lnTo>
                  <a:cubicBezTo>
                    <a:pt x="2327676" y="483034"/>
                    <a:pt x="2307674" y="503036"/>
                    <a:pt x="2283000" y="503036"/>
                  </a:cubicBezTo>
                  <a:lnTo>
                    <a:pt x="44676" y="503036"/>
                  </a:lnTo>
                  <a:cubicBezTo>
                    <a:pt x="20002" y="503036"/>
                    <a:pt x="0" y="483034"/>
                    <a:pt x="0" y="458361"/>
                  </a:cubicBezTo>
                  <a:lnTo>
                    <a:pt x="0" y="44676"/>
                  </a:lnTo>
                  <a:cubicBezTo>
                    <a:pt x="0" y="20002"/>
                    <a:pt x="20002" y="0"/>
                    <a:pt x="44676" y="0"/>
                  </a:cubicBezTo>
                  <a:close/>
                </a:path>
              </a:pathLst>
            </a:custGeom>
            <a:solidFill>
              <a:srgbClr val="FFFFFF"/>
            </a:solidFill>
            <a:ln w="9525" cap="rnd">
              <a:solidFill>
                <a:srgbClr val="004AAD"/>
              </a:solidFill>
              <a:prstDash val="solid"/>
              <a:round/>
            </a:ln>
          </p:spPr>
        </p:sp>
        <p:sp>
          <p:nvSpPr>
            <p:cNvPr id="29" name="TextBox 29"/>
            <p:cNvSpPr txBox="1"/>
            <p:nvPr/>
          </p:nvSpPr>
          <p:spPr>
            <a:xfrm>
              <a:off x="0" y="-38100"/>
              <a:ext cx="2327676" cy="541136"/>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1818856" y="3015508"/>
            <a:ext cx="3643605" cy="870871"/>
            <a:chOff x="0" y="0"/>
            <a:chExt cx="959633" cy="229365"/>
          </a:xfrm>
        </p:grpSpPr>
        <p:sp>
          <p:nvSpPr>
            <p:cNvPr id="31" name="Freeform 31"/>
            <p:cNvSpPr/>
            <p:nvPr/>
          </p:nvSpPr>
          <p:spPr>
            <a:xfrm>
              <a:off x="0" y="0"/>
              <a:ext cx="959633" cy="229365"/>
            </a:xfrm>
            <a:custGeom>
              <a:avLst/>
              <a:gdLst/>
              <a:ahLst/>
              <a:cxnLst/>
              <a:rect l="l" t="t" r="r" b="b"/>
              <a:pathLst>
                <a:path w="959633" h="229365">
                  <a:moveTo>
                    <a:pt x="108365" y="0"/>
                  </a:moveTo>
                  <a:lnTo>
                    <a:pt x="851268" y="0"/>
                  </a:lnTo>
                  <a:cubicBezTo>
                    <a:pt x="880008" y="0"/>
                    <a:pt x="907571" y="11417"/>
                    <a:pt x="927893" y="31739"/>
                  </a:cubicBezTo>
                  <a:cubicBezTo>
                    <a:pt x="948216" y="52062"/>
                    <a:pt x="959633" y="79625"/>
                    <a:pt x="959633" y="108365"/>
                  </a:cubicBezTo>
                  <a:lnTo>
                    <a:pt x="959633" y="121001"/>
                  </a:lnTo>
                  <a:cubicBezTo>
                    <a:pt x="959633" y="149741"/>
                    <a:pt x="948216" y="177304"/>
                    <a:pt x="927893" y="197626"/>
                  </a:cubicBezTo>
                  <a:cubicBezTo>
                    <a:pt x="907571" y="217948"/>
                    <a:pt x="880008" y="229365"/>
                    <a:pt x="851268" y="229365"/>
                  </a:cubicBezTo>
                  <a:lnTo>
                    <a:pt x="108365" y="229365"/>
                  </a:lnTo>
                  <a:cubicBezTo>
                    <a:pt x="79625" y="229365"/>
                    <a:pt x="52062" y="217948"/>
                    <a:pt x="31739" y="197626"/>
                  </a:cubicBezTo>
                  <a:cubicBezTo>
                    <a:pt x="11417" y="177304"/>
                    <a:pt x="0" y="149741"/>
                    <a:pt x="0" y="121001"/>
                  </a:cubicBezTo>
                  <a:lnTo>
                    <a:pt x="0" y="108365"/>
                  </a:lnTo>
                  <a:cubicBezTo>
                    <a:pt x="0" y="79625"/>
                    <a:pt x="11417" y="52062"/>
                    <a:pt x="31739" y="31739"/>
                  </a:cubicBezTo>
                  <a:cubicBezTo>
                    <a:pt x="52062" y="11417"/>
                    <a:pt x="79625" y="0"/>
                    <a:pt x="108365" y="0"/>
                  </a:cubicBezTo>
                  <a:close/>
                </a:path>
              </a:pathLst>
            </a:custGeom>
            <a:solidFill>
              <a:srgbClr val="00BF63"/>
            </a:solidFill>
          </p:spPr>
        </p:sp>
        <p:sp>
          <p:nvSpPr>
            <p:cNvPr id="32" name="TextBox 32"/>
            <p:cNvSpPr txBox="1"/>
            <p:nvPr/>
          </p:nvSpPr>
          <p:spPr>
            <a:xfrm>
              <a:off x="0" y="-38100"/>
              <a:ext cx="959633" cy="267465"/>
            </a:xfrm>
            <a:prstGeom prst="rect">
              <a:avLst/>
            </a:prstGeom>
          </p:spPr>
          <p:txBody>
            <a:bodyPr lIns="50800" tIns="50800" rIns="50800" bIns="50800" rtlCol="0" anchor="ctr"/>
            <a:lstStyle/>
            <a:p>
              <a:pPr algn="ctr">
                <a:lnSpc>
                  <a:spcPts val="2659"/>
                </a:lnSpc>
              </a:pPr>
              <a:endParaRPr/>
            </a:p>
          </p:txBody>
        </p:sp>
      </p:grpSp>
      <p:sp>
        <p:nvSpPr>
          <p:cNvPr id="33" name="Freeform 33"/>
          <p:cNvSpPr/>
          <p:nvPr/>
        </p:nvSpPr>
        <p:spPr>
          <a:xfrm>
            <a:off x="12104606" y="3097031"/>
            <a:ext cx="669727" cy="669727"/>
          </a:xfrm>
          <a:custGeom>
            <a:avLst/>
            <a:gdLst/>
            <a:ahLst/>
            <a:cxnLst/>
            <a:rect l="l" t="t" r="r" b="b"/>
            <a:pathLst>
              <a:path w="669727" h="669727">
                <a:moveTo>
                  <a:pt x="0" y="0"/>
                </a:moveTo>
                <a:lnTo>
                  <a:pt x="669726" y="0"/>
                </a:lnTo>
                <a:lnTo>
                  <a:pt x="669726" y="669726"/>
                </a:lnTo>
                <a:lnTo>
                  <a:pt x="0" y="669726"/>
                </a:lnTo>
                <a:lnTo>
                  <a:pt x="0" y="0"/>
                </a:lnTo>
                <a:close/>
              </a:path>
            </a:pathLst>
          </a:custGeom>
          <a:blipFill>
            <a:blip r:embed="rId6"/>
            <a:stretch>
              <a:fillRect/>
            </a:stretch>
          </a:blipFill>
        </p:spPr>
      </p:sp>
      <p:sp>
        <p:nvSpPr>
          <p:cNvPr id="34" name="Freeform 34"/>
          <p:cNvSpPr/>
          <p:nvPr/>
        </p:nvSpPr>
        <p:spPr>
          <a:xfrm>
            <a:off x="9888019" y="4041243"/>
            <a:ext cx="1102257" cy="1102257"/>
          </a:xfrm>
          <a:custGeom>
            <a:avLst/>
            <a:gdLst/>
            <a:ahLst/>
            <a:cxnLst/>
            <a:rect l="l" t="t" r="r" b="b"/>
            <a:pathLst>
              <a:path w="1102257" h="1102257">
                <a:moveTo>
                  <a:pt x="0" y="0"/>
                </a:moveTo>
                <a:lnTo>
                  <a:pt x="1102258" y="0"/>
                </a:lnTo>
                <a:lnTo>
                  <a:pt x="1102258" y="1102257"/>
                </a:lnTo>
                <a:lnTo>
                  <a:pt x="0" y="1102257"/>
                </a:lnTo>
                <a:lnTo>
                  <a:pt x="0" y="0"/>
                </a:lnTo>
                <a:close/>
              </a:path>
            </a:pathLst>
          </a:custGeom>
          <a:blipFill>
            <a:blip r:embed="rId7"/>
            <a:stretch>
              <a:fillRect/>
            </a:stretch>
          </a:blipFill>
        </p:spPr>
      </p:sp>
      <p:sp>
        <p:nvSpPr>
          <p:cNvPr id="35" name="Freeform 35"/>
          <p:cNvSpPr/>
          <p:nvPr/>
        </p:nvSpPr>
        <p:spPr>
          <a:xfrm>
            <a:off x="11857004" y="4041243"/>
            <a:ext cx="2755644" cy="1102257"/>
          </a:xfrm>
          <a:custGeom>
            <a:avLst/>
            <a:gdLst/>
            <a:ahLst/>
            <a:cxnLst/>
            <a:rect l="l" t="t" r="r" b="b"/>
            <a:pathLst>
              <a:path w="2755644" h="1102257">
                <a:moveTo>
                  <a:pt x="0" y="0"/>
                </a:moveTo>
                <a:lnTo>
                  <a:pt x="2755643" y="0"/>
                </a:lnTo>
                <a:lnTo>
                  <a:pt x="2755643" y="1102257"/>
                </a:lnTo>
                <a:lnTo>
                  <a:pt x="0" y="1102257"/>
                </a:lnTo>
                <a:lnTo>
                  <a:pt x="0" y="0"/>
                </a:lnTo>
                <a:close/>
              </a:path>
            </a:pathLst>
          </a:custGeom>
          <a:blipFill>
            <a:blip r:embed="rId8"/>
            <a:stretch>
              <a:fillRect/>
            </a:stretch>
          </a:blipFill>
        </p:spPr>
      </p:sp>
      <p:sp>
        <p:nvSpPr>
          <p:cNvPr id="36" name="Freeform 36"/>
          <p:cNvSpPr/>
          <p:nvPr/>
        </p:nvSpPr>
        <p:spPr>
          <a:xfrm>
            <a:off x="15479375" y="3924480"/>
            <a:ext cx="1964321" cy="1102257"/>
          </a:xfrm>
          <a:custGeom>
            <a:avLst/>
            <a:gdLst/>
            <a:ahLst/>
            <a:cxnLst/>
            <a:rect l="l" t="t" r="r" b="b"/>
            <a:pathLst>
              <a:path w="1964321" h="1102257">
                <a:moveTo>
                  <a:pt x="0" y="0"/>
                </a:moveTo>
                <a:lnTo>
                  <a:pt x="1964321" y="0"/>
                </a:lnTo>
                <a:lnTo>
                  <a:pt x="1964321" y="1102257"/>
                </a:lnTo>
                <a:lnTo>
                  <a:pt x="0" y="1102257"/>
                </a:lnTo>
                <a:lnTo>
                  <a:pt x="0" y="0"/>
                </a:lnTo>
                <a:close/>
              </a:path>
            </a:pathLst>
          </a:custGeom>
          <a:blipFill>
            <a:blip r:embed="rId9"/>
            <a:stretch>
              <a:fillRect/>
            </a:stretch>
          </a:blipFill>
        </p:spPr>
      </p:sp>
      <p:grpSp>
        <p:nvGrpSpPr>
          <p:cNvPr id="37" name="Group 37"/>
          <p:cNvGrpSpPr/>
          <p:nvPr/>
        </p:nvGrpSpPr>
        <p:grpSpPr>
          <a:xfrm>
            <a:off x="144180" y="6296229"/>
            <a:ext cx="3685820" cy="2096810"/>
            <a:chOff x="0" y="0"/>
            <a:chExt cx="970751" cy="552246"/>
          </a:xfrm>
        </p:grpSpPr>
        <p:sp>
          <p:nvSpPr>
            <p:cNvPr id="38" name="Freeform 38"/>
            <p:cNvSpPr/>
            <p:nvPr/>
          </p:nvSpPr>
          <p:spPr>
            <a:xfrm>
              <a:off x="0" y="0"/>
              <a:ext cx="970751" cy="552246"/>
            </a:xfrm>
            <a:custGeom>
              <a:avLst/>
              <a:gdLst/>
              <a:ahLst/>
              <a:cxnLst/>
              <a:rect l="l" t="t" r="r" b="b"/>
              <a:pathLst>
                <a:path w="970751" h="552246">
                  <a:moveTo>
                    <a:pt x="107124" y="0"/>
                  </a:moveTo>
                  <a:lnTo>
                    <a:pt x="863627" y="0"/>
                  </a:lnTo>
                  <a:cubicBezTo>
                    <a:pt x="922790" y="0"/>
                    <a:pt x="970751" y="47961"/>
                    <a:pt x="970751" y="107124"/>
                  </a:cubicBezTo>
                  <a:lnTo>
                    <a:pt x="970751" y="445123"/>
                  </a:lnTo>
                  <a:cubicBezTo>
                    <a:pt x="970751" y="473534"/>
                    <a:pt x="959465" y="500781"/>
                    <a:pt x="939375" y="520870"/>
                  </a:cubicBezTo>
                  <a:cubicBezTo>
                    <a:pt x="919286" y="540960"/>
                    <a:pt x="892038" y="552246"/>
                    <a:pt x="863627" y="552246"/>
                  </a:cubicBezTo>
                  <a:lnTo>
                    <a:pt x="107124" y="552246"/>
                  </a:lnTo>
                  <a:cubicBezTo>
                    <a:pt x="78713" y="552246"/>
                    <a:pt x="51465" y="540960"/>
                    <a:pt x="31376" y="520870"/>
                  </a:cubicBezTo>
                  <a:cubicBezTo>
                    <a:pt x="11286" y="500781"/>
                    <a:pt x="0" y="473534"/>
                    <a:pt x="0" y="445123"/>
                  </a:cubicBezTo>
                  <a:lnTo>
                    <a:pt x="0" y="107124"/>
                  </a:lnTo>
                  <a:cubicBezTo>
                    <a:pt x="0" y="78713"/>
                    <a:pt x="11286" y="51465"/>
                    <a:pt x="31376" y="31376"/>
                  </a:cubicBezTo>
                  <a:cubicBezTo>
                    <a:pt x="51465" y="11286"/>
                    <a:pt x="78713" y="0"/>
                    <a:pt x="107124" y="0"/>
                  </a:cubicBezTo>
                  <a:close/>
                </a:path>
              </a:pathLst>
            </a:custGeom>
            <a:solidFill>
              <a:srgbClr val="FFFFFF"/>
            </a:solidFill>
            <a:ln w="9525" cap="rnd">
              <a:solidFill>
                <a:srgbClr val="004AAD"/>
              </a:solidFill>
              <a:prstDash val="solid"/>
              <a:round/>
            </a:ln>
          </p:spPr>
        </p:sp>
        <p:sp>
          <p:nvSpPr>
            <p:cNvPr id="39" name="TextBox 39"/>
            <p:cNvSpPr txBox="1"/>
            <p:nvPr/>
          </p:nvSpPr>
          <p:spPr>
            <a:xfrm>
              <a:off x="0" y="-38100"/>
              <a:ext cx="970751" cy="590346"/>
            </a:xfrm>
            <a:prstGeom prst="rect">
              <a:avLst/>
            </a:prstGeom>
          </p:spPr>
          <p:txBody>
            <a:bodyPr lIns="50800" tIns="50800" rIns="50800" bIns="50800" rtlCol="0" anchor="ctr"/>
            <a:lstStyle/>
            <a:p>
              <a:pPr algn="ctr">
                <a:lnSpc>
                  <a:spcPts val="2659"/>
                </a:lnSpc>
              </a:pPr>
              <a:endParaRPr/>
            </a:p>
          </p:txBody>
        </p:sp>
      </p:grpSp>
      <p:grpSp>
        <p:nvGrpSpPr>
          <p:cNvPr id="40" name="Group 40"/>
          <p:cNvGrpSpPr/>
          <p:nvPr/>
        </p:nvGrpSpPr>
        <p:grpSpPr>
          <a:xfrm>
            <a:off x="4288763" y="6296229"/>
            <a:ext cx="5432043" cy="2096810"/>
            <a:chOff x="0" y="0"/>
            <a:chExt cx="1430661" cy="552246"/>
          </a:xfrm>
        </p:grpSpPr>
        <p:sp>
          <p:nvSpPr>
            <p:cNvPr id="41" name="Freeform 41"/>
            <p:cNvSpPr/>
            <p:nvPr/>
          </p:nvSpPr>
          <p:spPr>
            <a:xfrm>
              <a:off x="0" y="0"/>
              <a:ext cx="1430662" cy="552246"/>
            </a:xfrm>
            <a:custGeom>
              <a:avLst/>
              <a:gdLst/>
              <a:ahLst/>
              <a:cxnLst/>
              <a:rect l="l" t="t" r="r" b="b"/>
              <a:pathLst>
                <a:path w="1430662" h="552246">
                  <a:moveTo>
                    <a:pt x="72687" y="0"/>
                  </a:moveTo>
                  <a:lnTo>
                    <a:pt x="1357975" y="0"/>
                  </a:lnTo>
                  <a:cubicBezTo>
                    <a:pt x="1377252" y="0"/>
                    <a:pt x="1395741" y="7658"/>
                    <a:pt x="1409372" y="21289"/>
                  </a:cubicBezTo>
                  <a:cubicBezTo>
                    <a:pt x="1423003" y="34921"/>
                    <a:pt x="1430662" y="53409"/>
                    <a:pt x="1430662" y="72687"/>
                  </a:cubicBezTo>
                  <a:lnTo>
                    <a:pt x="1430662" y="479559"/>
                  </a:lnTo>
                  <a:cubicBezTo>
                    <a:pt x="1430662" y="498837"/>
                    <a:pt x="1423003" y="517325"/>
                    <a:pt x="1409372" y="530957"/>
                  </a:cubicBezTo>
                  <a:cubicBezTo>
                    <a:pt x="1395741" y="544588"/>
                    <a:pt x="1377252" y="552246"/>
                    <a:pt x="1357975" y="552246"/>
                  </a:cubicBezTo>
                  <a:lnTo>
                    <a:pt x="72687" y="552246"/>
                  </a:lnTo>
                  <a:cubicBezTo>
                    <a:pt x="53409" y="552246"/>
                    <a:pt x="34921" y="544588"/>
                    <a:pt x="21289" y="530957"/>
                  </a:cubicBezTo>
                  <a:cubicBezTo>
                    <a:pt x="7658" y="517325"/>
                    <a:pt x="0" y="498837"/>
                    <a:pt x="0" y="479559"/>
                  </a:cubicBezTo>
                  <a:lnTo>
                    <a:pt x="0" y="72687"/>
                  </a:lnTo>
                  <a:cubicBezTo>
                    <a:pt x="0" y="53409"/>
                    <a:pt x="7658" y="34921"/>
                    <a:pt x="21289" y="21289"/>
                  </a:cubicBezTo>
                  <a:cubicBezTo>
                    <a:pt x="34921" y="7658"/>
                    <a:pt x="53409" y="0"/>
                    <a:pt x="72687" y="0"/>
                  </a:cubicBezTo>
                  <a:close/>
                </a:path>
              </a:pathLst>
            </a:custGeom>
            <a:solidFill>
              <a:srgbClr val="FFFFFF"/>
            </a:solidFill>
            <a:ln w="9525" cap="rnd">
              <a:solidFill>
                <a:srgbClr val="004AAD"/>
              </a:solidFill>
              <a:prstDash val="solid"/>
              <a:round/>
            </a:ln>
          </p:spPr>
        </p:sp>
        <p:sp>
          <p:nvSpPr>
            <p:cNvPr id="42" name="TextBox 42"/>
            <p:cNvSpPr txBox="1"/>
            <p:nvPr/>
          </p:nvSpPr>
          <p:spPr>
            <a:xfrm>
              <a:off x="0" y="-38100"/>
              <a:ext cx="1430661" cy="590346"/>
            </a:xfrm>
            <a:prstGeom prst="rect">
              <a:avLst/>
            </a:prstGeom>
          </p:spPr>
          <p:txBody>
            <a:bodyPr lIns="50800" tIns="50800" rIns="50800" bIns="50800" rtlCol="0" anchor="ctr"/>
            <a:lstStyle/>
            <a:p>
              <a:pPr algn="ctr">
                <a:lnSpc>
                  <a:spcPts val="2659"/>
                </a:lnSpc>
              </a:pPr>
              <a:endParaRPr/>
            </a:p>
          </p:txBody>
        </p:sp>
      </p:grpSp>
      <p:grpSp>
        <p:nvGrpSpPr>
          <p:cNvPr id="43" name="Group 43"/>
          <p:cNvGrpSpPr/>
          <p:nvPr/>
        </p:nvGrpSpPr>
        <p:grpSpPr>
          <a:xfrm>
            <a:off x="9892256" y="6296229"/>
            <a:ext cx="8171587" cy="2096810"/>
            <a:chOff x="0" y="0"/>
            <a:chExt cx="2152187" cy="552246"/>
          </a:xfrm>
        </p:grpSpPr>
        <p:sp>
          <p:nvSpPr>
            <p:cNvPr id="44" name="Freeform 44"/>
            <p:cNvSpPr/>
            <p:nvPr/>
          </p:nvSpPr>
          <p:spPr>
            <a:xfrm>
              <a:off x="0" y="0"/>
              <a:ext cx="2152187" cy="552246"/>
            </a:xfrm>
            <a:custGeom>
              <a:avLst/>
              <a:gdLst/>
              <a:ahLst/>
              <a:cxnLst/>
              <a:rect l="l" t="t" r="r" b="b"/>
              <a:pathLst>
                <a:path w="2152187" h="552246">
                  <a:moveTo>
                    <a:pt x="48318" y="0"/>
                  </a:moveTo>
                  <a:lnTo>
                    <a:pt x="2103869" y="0"/>
                  </a:lnTo>
                  <a:cubicBezTo>
                    <a:pt x="2116684" y="0"/>
                    <a:pt x="2128974" y="5091"/>
                    <a:pt x="2138035" y="14152"/>
                  </a:cubicBezTo>
                  <a:cubicBezTo>
                    <a:pt x="2147097" y="23214"/>
                    <a:pt x="2152187" y="35504"/>
                    <a:pt x="2152187" y="48318"/>
                  </a:cubicBezTo>
                  <a:lnTo>
                    <a:pt x="2152187" y="503928"/>
                  </a:lnTo>
                  <a:cubicBezTo>
                    <a:pt x="2152187" y="530613"/>
                    <a:pt x="2130555" y="552246"/>
                    <a:pt x="2103869" y="552246"/>
                  </a:cubicBezTo>
                  <a:lnTo>
                    <a:pt x="48318" y="552246"/>
                  </a:lnTo>
                  <a:cubicBezTo>
                    <a:pt x="35504" y="552246"/>
                    <a:pt x="23214" y="547155"/>
                    <a:pt x="14152" y="538094"/>
                  </a:cubicBezTo>
                  <a:cubicBezTo>
                    <a:pt x="5091" y="529033"/>
                    <a:pt x="0" y="516743"/>
                    <a:pt x="0" y="503928"/>
                  </a:cubicBezTo>
                  <a:lnTo>
                    <a:pt x="0" y="48318"/>
                  </a:lnTo>
                  <a:cubicBezTo>
                    <a:pt x="0" y="35504"/>
                    <a:pt x="5091" y="23214"/>
                    <a:pt x="14152" y="14152"/>
                  </a:cubicBezTo>
                  <a:cubicBezTo>
                    <a:pt x="23214" y="5091"/>
                    <a:pt x="35504" y="0"/>
                    <a:pt x="48318" y="0"/>
                  </a:cubicBezTo>
                  <a:close/>
                </a:path>
              </a:pathLst>
            </a:custGeom>
            <a:solidFill>
              <a:srgbClr val="FFFFFF"/>
            </a:solidFill>
            <a:ln w="9525" cap="rnd">
              <a:solidFill>
                <a:srgbClr val="004AAD"/>
              </a:solidFill>
              <a:prstDash val="solid"/>
              <a:round/>
            </a:ln>
          </p:spPr>
        </p:sp>
        <p:sp>
          <p:nvSpPr>
            <p:cNvPr id="45" name="TextBox 45"/>
            <p:cNvSpPr txBox="1"/>
            <p:nvPr/>
          </p:nvSpPr>
          <p:spPr>
            <a:xfrm>
              <a:off x="0" y="-38100"/>
              <a:ext cx="2152187" cy="590346"/>
            </a:xfrm>
            <a:prstGeom prst="rect">
              <a:avLst/>
            </a:prstGeom>
          </p:spPr>
          <p:txBody>
            <a:bodyPr lIns="50800" tIns="50800" rIns="50800" bIns="50800" rtlCol="0" anchor="ctr"/>
            <a:lstStyle/>
            <a:p>
              <a:pPr algn="ctr">
                <a:lnSpc>
                  <a:spcPts val="2659"/>
                </a:lnSpc>
              </a:pPr>
              <a:endParaRPr/>
            </a:p>
          </p:txBody>
        </p:sp>
      </p:grpSp>
      <p:grpSp>
        <p:nvGrpSpPr>
          <p:cNvPr id="46" name="Group 46"/>
          <p:cNvGrpSpPr/>
          <p:nvPr/>
        </p:nvGrpSpPr>
        <p:grpSpPr>
          <a:xfrm>
            <a:off x="488678" y="5770484"/>
            <a:ext cx="2922091" cy="870871"/>
            <a:chOff x="0" y="0"/>
            <a:chExt cx="769604" cy="229365"/>
          </a:xfrm>
        </p:grpSpPr>
        <p:sp>
          <p:nvSpPr>
            <p:cNvPr id="47" name="Freeform 47"/>
            <p:cNvSpPr/>
            <p:nvPr/>
          </p:nvSpPr>
          <p:spPr>
            <a:xfrm>
              <a:off x="0" y="0"/>
              <a:ext cx="769604" cy="229365"/>
            </a:xfrm>
            <a:custGeom>
              <a:avLst/>
              <a:gdLst/>
              <a:ahLst/>
              <a:cxnLst/>
              <a:rect l="l" t="t" r="r" b="b"/>
              <a:pathLst>
                <a:path w="769604" h="229365">
                  <a:moveTo>
                    <a:pt x="114683" y="0"/>
                  </a:moveTo>
                  <a:lnTo>
                    <a:pt x="654922" y="0"/>
                  </a:lnTo>
                  <a:cubicBezTo>
                    <a:pt x="685337" y="0"/>
                    <a:pt x="714507" y="12083"/>
                    <a:pt x="736014" y="33590"/>
                  </a:cubicBezTo>
                  <a:cubicBezTo>
                    <a:pt x="757522" y="55097"/>
                    <a:pt x="769604" y="84267"/>
                    <a:pt x="769604" y="114683"/>
                  </a:cubicBezTo>
                  <a:lnTo>
                    <a:pt x="769604" y="114683"/>
                  </a:lnTo>
                  <a:cubicBezTo>
                    <a:pt x="769604" y="145098"/>
                    <a:pt x="757522" y="174268"/>
                    <a:pt x="736014" y="195776"/>
                  </a:cubicBezTo>
                  <a:cubicBezTo>
                    <a:pt x="714507" y="217283"/>
                    <a:pt x="685337" y="229365"/>
                    <a:pt x="654922" y="229365"/>
                  </a:cubicBezTo>
                  <a:lnTo>
                    <a:pt x="114683" y="229365"/>
                  </a:lnTo>
                  <a:cubicBezTo>
                    <a:pt x="84267" y="229365"/>
                    <a:pt x="55097" y="217283"/>
                    <a:pt x="33590" y="195776"/>
                  </a:cubicBezTo>
                  <a:cubicBezTo>
                    <a:pt x="12083" y="174268"/>
                    <a:pt x="0" y="145098"/>
                    <a:pt x="0" y="114683"/>
                  </a:cubicBezTo>
                  <a:lnTo>
                    <a:pt x="0" y="114683"/>
                  </a:lnTo>
                  <a:cubicBezTo>
                    <a:pt x="0" y="84267"/>
                    <a:pt x="12083" y="55097"/>
                    <a:pt x="33590" y="33590"/>
                  </a:cubicBezTo>
                  <a:cubicBezTo>
                    <a:pt x="55097" y="12083"/>
                    <a:pt x="84267" y="0"/>
                    <a:pt x="114683" y="0"/>
                  </a:cubicBezTo>
                  <a:close/>
                </a:path>
              </a:pathLst>
            </a:custGeom>
            <a:solidFill>
              <a:srgbClr val="8C52FF"/>
            </a:solidFill>
          </p:spPr>
        </p:sp>
        <p:sp>
          <p:nvSpPr>
            <p:cNvPr id="48" name="TextBox 48"/>
            <p:cNvSpPr txBox="1"/>
            <p:nvPr/>
          </p:nvSpPr>
          <p:spPr>
            <a:xfrm>
              <a:off x="0" y="-38100"/>
              <a:ext cx="769604" cy="267465"/>
            </a:xfrm>
            <a:prstGeom prst="rect">
              <a:avLst/>
            </a:prstGeom>
          </p:spPr>
          <p:txBody>
            <a:bodyPr lIns="50800" tIns="50800" rIns="50800" bIns="50800" rtlCol="0" anchor="ctr"/>
            <a:lstStyle/>
            <a:p>
              <a:pPr algn="ctr">
                <a:lnSpc>
                  <a:spcPts val="2659"/>
                </a:lnSpc>
              </a:pPr>
              <a:endParaRPr/>
            </a:p>
          </p:txBody>
        </p:sp>
      </p:grpSp>
      <p:sp>
        <p:nvSpPr>
          <p:cNvPr id="49" name="Freeform 49"/>
          <p:cNvSpPr/>
          <p:nvPr/>
        </p:nvSpPr>
        <p:spPr>
          <a:xfrm>
            <a:off x="786256" y="5843328"/>
            <a:ext cx="725184" cy="725184"/>
          </a:xfrm>
          <a:custGeom>
            <a:avLst/>
            <a:gdLst/>
            <a:ahLst/>
            <a:cxnLst/>
            <a:rect l="l" t="t" r="r" b="b"/>
            <a:pathLst>
              <a:path w="725184" h="725184">
                <a:moveTo>
                  <a:pt x="0" y="0"/>
                </a:moveTo>
                <a:lnTo>
                  <a:pt x="725185" y="0"/>
                </a:lnTo>
                <a:lnTo>
                  <a:pt x="725185" y="725184"/>
                </a:lnTo>
                <a:lnTo>
                  <a:pt x="0" y="725184"/>
                </a:lnTo>
                <a:lnTo>
                  <a:pt x="0" y="0"/>
                </a:lnTo>
                <a:close/>
              </a:path>
            </a:pathLst>
          </a:custGeom>
          <a:blipFill>
            <a:blip r:embed="rId10"/>
            <a:stretch>
              <a:fillRect/>
            </a:stretch>
          </a:blipFill>
        </p:spPr>
      </p:sp>
      <p:sp>
        <p:nvSpPr>
          <p:cNvPr id="50" name="Freeform 50"/>
          <p:cNvSpPr/>
          <p:nvPr/>
        </p:nvSpPr>
        <p:spPr>
          <a:xfrm>
            <a:off x="520380" y="6898531"/>
            <a:ext cx="1677875" cy="1048672"/>
          </a:xfrm>
          <a:custGeom>
            <a:avLst/>
            <a:gdLst/>
            <a:ahLst/>
            <a:cxnLst/>
            <a:rect l="l" t="t" r="r" b="b"/>
            <a:pathLst>
              <a:path w="1677875" h="1048672">
                <a:moveTo>
                  <a:pt x="0" y="0"/>
                </a:moveTo>
                <a:lnTo>
                  <a:pt x="1677875" y="0"/>
                </a:lnTo>
                <a:lnTo>
                  <a:pt x="1677875" y="1048672"/>
                </a:lnTo>
                <a:lnTo>
                  <a:pt x="0" y="1048672"/>
                </a:lnTo>
                <a:lnTo>
                  <a:pt x="0" y="0"/>
                </a:lnTo>
                <a:close/>
              </a:path>
            </a:pathLst>
          </a:custGeom>
          <a:blipFill>
            <a:blip r:embed="rId11"/>
            <a:stretch>
              <a:fillRect/>
            </a:stretch>
          </a:blipFill>
        </p:spPr>
      </p:sp>
      <p:sp>
        <p:nvSpPr>
          <p:cNvPr id="51" name="Freeform 51"/>
          <p:cNvSpPr/>
          <p:nvPr/>
        </p:nvSpPr>
        <p:spPr>
          <a:xfrm>
            <a:off x="2436380" y="6898531"/>
            <a:ext cx="1048672" cy="1048672"/>
          </a:xfrm>
          <a:custGeom>
            <a:avLst/>
            <a:gdLst/>
            <a:ahLst/>
            <a:cxnLst/>
            <a:rect l="l" t="t" r="r" b="b"/>
            <a:pathLst>
              <a:path w="1048672" h="1048672">
                <a:moveTo>
                  <a:pt x="0" y="0"/>
                </a:moveTo>
                <a:lnTo>
                  <a:pt x="1048672" y="0"/>
                </a:lnTo>
                <a:lnTo>
                  <a:pt x="1048672" y="1048672"/>
                </a:lnTo>
                <a:lnTo>
                  <a:pt x="0" y="1048672"/>
                </a:lnTo>
                <a:lnTo>
                  <a:pt x="0" y="0"/>
                </a:lnTo>
                <a:close/>
              </a:path>
            </a:pathLst>
          </a:custGeom>
          <a:blipFill>
            <a:blip r:embed="rId12"/>
            <a:stretch>
              <a:fillRect/>
            </a:stretch>
          </a:blipFill>
        </p:spPr>
      </p:sp>
      <p:grpSp>
        <p:nvGrpSpPr>
          <p:cNvPr id="52" name="Group 52"/>
          <p:cNvGrpSpPr/>
          <p:nvPr/>
        </p:nvGrpSpPr>
        <p:grpSpPr>
          <a:xfrm>
            <a:off x="5836220" y="5770484"/>
            <a:ext cx="2049816" cy="870871"/>
            <a:chOff x="0" y="0"/>
            <a:chExt cx="539869" cy="229365"/>
          </a:xfrm>
        </p:grpSpPr>
        <p:sp>
          <p:nvSpPr>
            <p:cNvPr id="53" name="Freeform 53"/>
            <p:cNvSpPr/>
            <p:nvPr/>
          </p:nvSpPr>
          <p:spPr>
            <a:xfrm>
              <a:off x="0" y="0"/>
              <a:ext cx="539869" cy="229365"/>
            </a:xfrm>
            <a:custGeom>
              <a:avLst/>
              <a:gdLst/>
              <a:ahLst/>
              <a:cxnLst/>
              <a:rect l="l" t="t" r="r" b="b"/>
              <a:pathLst>
                <a:path w="539869" h="229365">
                  <a:moveTo>
                    <a:pt x="114683" y="0"/>
                  </a:moveTo>
                  <a:lnTo>
                    <a:pt x="425187" y="0"/>
                  </a:lnTo>
                  <a:cubicBezTo>
                    <a:pt x="488524" y="0"/>
                    <a:pt x="539869" y="51345"/>
                    <a:pt x="539869" y="114683"/>
                  </a:cubicBezTo>
                  <a:lnTo>
                    <a:pt x="539869" y="114683"/>
                  </a:lnTo>
                  <a:cubicBezTo>
                    <a:pt x="539869" y="145098"/>
                    <a:pt x="527787" y="174268"/>
                    <a:pt x="506280" y="195776"/>
                  </a:cubicBezTo>
                  <a:cubicBezTo>
                    <a:pt x="484772" y="217283"/>
                    <a:pt x="455602" y="229365"/>
                    <a:pt x="425187" y="229365"/>
                  </a:cubicBezTo>
                  <a:lnTo>
                    <a:pt x="114683" y="229365"/>
                  </a:lnTo>
                  <a:cubicBezTo>
                    <a:pt x="84267" y="229365"/>
                    <a:pt x="55097" y="217283"/>
                    <a:pt x="33590" y="195776"/>
                  </a:cubicBezTo>
                  <a:cubicBezTo>
                    <a:pt x="12083" y="174268"/>
                    <a:pt x="0" y="145098"/>
                    <a:pt x="0" y="114683"/>
                  </a:cubicBezTo>
                  <a:lnTo>
                    <a:pt x="0" y="114683"/>
                  </a:lnTo>
                  <a:cubicBezTo>
                    <a:pt x="0" y="84267"/>
                    <a:pt x="12083" y="55097"/>
                    <a:pt x="33590" y="33590"/>
                  </a:cubicBezTo>
                  <a:cubicBezTo>
                    <a:pt x="55097" y="12083"/>
                    <a:pt x="84267" y="0"/>
                    <a:pt x="114683" y="0"/>
                  </a:cubicBezTo>
                  <a:close/>
                </a:path>
              </a:pathLst>
            </a:custGeom>
            <a:solidFill>
              <a:srgbClr val="FFBD59"/>
            </a:solidFill>
          </p:spPr>
        </p:sp>
        <p:sp>
          <p:nvSpPr>
            <p:cNvPr id="54" name="TextBox 54"/>
            <p:cNvSpPr txBox="1"/>
            <p:nvPr/>
          </p:nvSpPr>
          <p:spPr>
            <a:xfrm>
              <a:off x="0" y="-38100"/>
              <a:ext cx="539869" cy="267465"/>
            </a:xfrm>
            <a:prstGeom prst="rect">
              <a:avLst/>
            </a:prstGeom>
          </p:spPr>
          <p:txBody>
            <a:bodyPr lIns="50800" tIns="50800" rIns="50800" bIns="50800" rtlCol="0" anchor="ctr"/>
            <a:lstStyle/>
            <a:p>
              <a:pPr algn="ctr">
                <a:lnSpc>
                  <a:spcPts val="2659"/>
                </a:lnSpc>
              </a:pPr>
              <a:endParaRPr/>
            </a:p>
          </p:txBody>
        </p:sp>
      </p:grpSp>
      <p:sp>
        <p:nvSpPr>
          <p:cNvPr id="55" name="Freeform 55"/>
          <p:cNvSpPr/>
          <p:nvPr/>
        </p:nvSpPr>
        <p:spPr>
          <a:xfrm>
            <a:off x="6238843" y="5902526"/>
            <a:ext cx="606788" cy="606788"/>
          </a:xfrm>
          <a:custGeom>
            <a:avLst/>
            <a:gdLst/>
            <a:ahLst/>
            <a:cxnLst/>
            <a:rect l="l" t="t" r="r" b="b"/>
            <a:pathLst>
              <a:path w="606788" h="606788">
                <a:moveTo>
                  <a:pt x="0" y="0"/>
                </a:moveTo>
                <a:lnTo>
                  <a:pt x="606788" y="0"/>
                </a:lnTo>
                <a:lnTo>
                  <a:pt x="606788" y="606788"/>
                </a:lnTo>
                <a:lnTo>
                  <a:pt x="0" y="606788"/>
                </a:lnTo>
                <a:lnTo>
                  <a:pt x="0" y="0"/>
                </a:lnTo>
                <a:close/>
              </a:path>
            </a:pathLst>
          </a:custGeom>
          <a:blipFill>
            <a:blip r:embed="rId13"/>
            <a:stretch>
              <a:fillRect/>
            </a:stretch>
          </a:blipFill>
        </p:spPr>
      </p:sp>
      <p:sp>
        <p:nvSpPr>
          <p:cNvPr id="56" name="Freeform 56"/>
          <p:cNvSpPr/>
          <p:nvPr/>
        </p:nvSpPr>
        <p:spPr>
          <a:xfrm>
            <a:off x="4563128" y="6975422"/>
            <a:ext cx="1448324" cy="814623"/>
          </a:xfrm>
          <a:custGeom>
            <a:avLst/>
            <a:gdLst/>
            <a:ahLst/>
            <a:cxnLst/>
            <a:rect l="l" t="t" r="r" b="b"/>
            <a:pathLst>
              <a:path w="1448324" h="814623">
                <a:moveTo>
                  <a:pt x="0" y="0"/>
                </a:moveTo>
                <a:lnTo>
                  <a:pt x="1448324" y="0"/>
                </a:lnTo>
                <a:lnTo>
                  <a:pt x="1448324" y="814623"/>
                </a:lnTo>
                <a:lnTo>
                  <a:pt x="0" y="814623"/>
                </a:lnTo>
                <a:lnTo>
                  <a:pt x="0" y="0"/>
                </a:lnTo>
                <a:close/>
              </a:path>
            </a:pathLst>
          </a:custGeom>
          <a:blipFill>
            <a:blip r:embed="rId14"/>
            <a:stretch>
              <a:fillRect/>
            </a:stretch>
          </a:blipFill>
        </p:spPr>
      </p:sp>
      <p:sp>
        <p:nvSpPr>
          <p:cNvPr id="57" name="Freeform 57"/>
          <p:cNvSpPr/>
          <p:nvPr/>
        </p:nvSpPr>
        <p:spPr>
          <a:xfrm>
            <a:off x="6252078" y="7015555"/>
            <a:ext cx="1550478" cy="814623"/>
          </a:xfrm>
          <a:custGeom>
            <a:avLst/>
            <a:gdLst/>
            <a:ahLst/>
            <a:cxnLst/>
            <a:rect l="l" t="t" r="r" b="b"/>
            <a:pathLst>
              <a:path w="1550478" h="814623">
                <a:moveTo>
                  <a:pt x="0" y="0"/>
                </a:moveTo>
                <a:lnTo>
                  <a:pt x="1550478" y="0"/>
                </a:lnTo>
                <a:lnTo>
                  <a:pt x="1550478" y="814623"/>
                </a:lnTo>
                <a:lnTo>
                  <a:pt x="0" y="814623"/>
                </a:lnTo>
                <a:lnTo>
                  <a:pt x="0" y="0"/>
                </a:lnTo>
                <a:close/>
              </a:path>
            </a:pathLst>
          </a:custGeom>
          <a:blipFill>
            <a:blip r:embed="rId15"/>
            <a:stretch>
              <a:fillRect/>
            </a:stretch>
          </a:blipFill>
        </p:spPr>
      </p:sp>
      <p:sp>
        <p:nvSpPr>
          <p:cNvPr id="58" name="Freeform 58"/>
          <p:cNvSpPr/>
          <p:nvPr/>
        </p:nvSpPr>
        <p:spPr>
          <a:xfrm>
            <a:off x="8040681" y="6898531"/>
            <a:ext cx="1453071" cy="814623"/>
          </a:xfrm>
          <a:custGeom>
            <a:avLst/>
            <a:gdLst/>
            <a:ahLst/>
            <a:cxnLst/>
            <a:rect l="l" t="t" r="r" b="b"/>
            <a:pathLst>
              <a:path w="1453071" h="814623">
                <a:moveTo>
                  <a:pt x="0" y="0"/>
                </a:moveTo>
                <a:lnTo>
                  <a:pt x="1453071" y="0"/>
                </a:lnTo>
                <a:lnTo>
                  <a:pt x="1453071" y="814623"/>
                </a:lnTo>
                <a:lnTo>
                  <a:pt x="0" y="814623"/>
                </a:lnTo>
                <a:lnTo>
                  <a:pt x="0" y="0"/>
                </a:lnTo>
                <a:close/>
              </a:path>
            </a:pathLst>
          </a:custGeom>
          <a:blipFill>
            <a:blip r:embed="rId16"/>
            <a:stretch>
              <a:fillRect/>
            </a:stretch>
          </a:blipFill>
        </p:spPr>
      </p:sp>
      <p:grpSp>
        <p:nvGrpSpPr>
          <p:cNvPr id="59" name="Group 59"/>
          <p:cNvGrpSpPr/>
          <p:nvPr/>
        </p:nvGrpSpPr>
        <p:grpSpPr>
          <a:xfrm>
            <a:off x="11826356" y="5777009"/>
            <a:ext cx="3628606" cy="870871"/>
            <a:chOff x="0" y="0"/>
            <a:chExt cx="955682" cy="229365"/>
          </a:xfrm>
        </p:grpSpPr>
        <p:sp>
          <p:nvSpPr>
            <p:cNvPr id="60" name="Freeform 60"/>
            <p:cNvSpPr/>
            <p:nvPr/>
          </p:nvSpPr>
          <p:spPr>
            <a:xfrm>
              <a:off x="0" y="0"/>
              <a:ext cx="955682" cy="229365"/>
            </a:xfrm>
            <a:custGeom>
              <a:avLst/>
              <a:gdLst/>
              <a:ahLst/>
              <a:cxnLst/>
              <a:rect l="l" t="t" r="r" b="b"/>
              <a:pathLst>
                <a:path w="955682" h="229365">
                  <a:moveTo>
                    <a:pt x="108813" y="0"/>
                  </a:moveTo>
                  <a:lnTo>
                    <a:pt x="846870" y="0"/>
                  </a:lnTo>
                  <a:cubicBezTo>
                    <a:pt x="875729" y="0"/>
                    <a:pt x="903405" y="11464"/>
                    <a:pt x="923812" y="31870"/>
                  </a:cubicBezTo>
                  <a:cubicBezTo>
                    <a:pt x="944218" y="52277"/>
                    <a:pt x="955682" y="79954"/>
                    <a:pt x="955682" y="108813"/>
                  </a:cubicBezTo>
                  <a:lnTo>
                    <a:pt x="955682" y="120553"/>
                  </a:lnTo>
                  <a:cubicBezTo>
                    <a:pt x="955682" y="180648"/>
                    <a:pt x="906965" y="229365"/>
                    <a:pt x="846870" y="229365"/>
                  </a:cubicBezTo>
                  <a:lnTo>
                    <a:pt x="108813" y="229365"/>
                  </a:lnTo>
                  <a:cubicBezTo>
                    <a:pt x="48717" y="229365"/>
                    <a:pt x="0" y="180648"/>
                    <a:pt x="0" y="120553"/>
                  </a:cubicBezTo>
                  <a:lnTo>
                    <a:pt x="0" y="108813"/>
                  </a:lnTo>
                  <a:cubicBezTo>
                    <a:pt x="0" y="48717"/>
                    <a:pt x="48717" y="0"/>
                    <a:pt x="108813" y="0"/>
                  </a:cubicBezTo>
                  <a:close/>
                </a:path>
              </a:pathLst>
            </a:custGeom>
            <a:solidFill>
              <a:srgbClr val="5170FF"/>
            </a:solidFill>
          </p:spPr>
        </p:sp>
        <p:sp>
          <p:nvSpPr>
            <p:cNvPr id="61" name="TextBox 61"/>
            <p:cNvSpPr txBox="1"/>
            <p:nvPr/>
          </p:nvSpPr>
          <p:spPr>
            <a:xfrm>
              <a:off x="0" y="-38100"/>
              <a:ext cx="955682" cy="267465"/>
            </a:xfrm>
            <a:prstGeom prst="rect">
              <a:avLst/>
            </a:prstGeom>
          </p:spPr>
          <p:txBody>
            <a:bodyPr lIns="50800" tIns="50800" rIns="50800" bIns="50800" rtlCol="0" anchor="ctr"/>
            <a:lstStyle/>
            <a:p>
              <a:pPr algn="ctr">
                <a:lnSpc>
                  <a:spcPts val="2659"/>
                </a:lnSpc>
              </a:pPr>
              <a:endParaRPr/>
            </a:p>
          </p:txBody>
        </p:sp>
      </p:grpSp>
      <p:sp>
        <p:nvSpPr>
          <p:cNvPr id="62" name="Freeform 62"/>
          <p:cNvSpPr/>
          <p:nvPr/>
        </p:nvSpPr>
        <p:spPr>
          <a:xfrm>
            <a:off x="12162433" y="5901200"/>
            <a:ext cx="622490" cy="622490"/>
          </a:xfrm>
          <a:custGeom>
            <a:avLst/>
            <a:gdLst/>
            <a:ahLst/>
            <a:cxnLst/>
            <a:rect l="l" t="t" r="r" b="b"/>
            <a:pathLst>
              <a:path w="622490" h="622490">
                <a:moveTo>
                  <a:pt x="0" y="0"/>
                </a:moveTo>
                <a:lnTo>
                  <a:pt x="622491" y="0"/>
                </a:lnTo>
                <a:lnTo>
                  <a:pt x="622491" y="622490"/>
                </a:lnTo>
                <a:lnTo>
                  <a:pt x="0" y="622490"/>
                </a:lnTo>
                <a:lnTo>
                  <a:pt x="0" y="0"/>
                </a:lnTo>
                <a:close/>
              </a:path>
            </a:pathLst>
          </a:custGeom>
          <a:blipFill>
            <a:blip r:embed="rId17"/>
            <a:stretch>
              <a:fillRect/>
            </a:stretch>
          </a:blipFill>
        </p:spPr>
      </p:sp>
      <p:sp>
        <p:nvSpPr>
          <p:cNvPr id="63" name="Freeform 63"/>
          <p:cNvSpPr/>
          <p:nvPr/>
        </p:nvSpPr>
        <p:spPr>
          <a:xfrm>
            <a:off x="10406606" y="6898531"/>
            <a:ext cx="1109947" cy="1109947"/>
          </a:xfrm>
          <a:custGeom>
            <a:avLst/>
            <a:gdLst/>
            <a:ahLst/>
            <a:cxnLst/>
            <a:rect l="l" t="t" r="r" b="b"/>
            <a:pathLst>
              <a:path w="1109947" h="1109947">
                <a:moveTo>
                  <a:pt x="0" y="0"/>
                </a:moveTo>
                <a:lnTo>
                  <a:pt x="1109947" y="0"/>
                </a:lnTo>
                <a:lnTo>
                  <a:pt x="1109947" y="1109947"/>
                </a:lnTo>
                <a:lnTo>
                  <a:pt x="0" y="1109947"/>
                </a:lnTo>
                <a:lnTo>
                  <a:pt x="0" y="0"/>
                </a:lnTo>
                <a:close/>
              </a:path>
            </a:pathLst>
          </a:custGeom>
          <a:blipFill>
            <a:blip r:embed="rId18"/>
            <a:stretch>
              <a:fillRect/>
            </a:stretch>
          </a:blipFill>
        </p:spPr>
      </p:sp>
      <p:sp>
        <p:nvSpPr>
          <p:cNvPr id="64" name="Freeform 64"/>
          <p:cNvSpPr/>
          <p:nvPr/>
        </p:nvSpPr>
        <p:spPr>
          <a:xfrm>
            <a:off x="12263440" y="6898531"/>
            <a:ext cx="1109947" cy="1109947"/>
          </a:xfrm>
          <a:custGeom>
            <a:avLst/>
            <a:gdLst/>
            <a:ahLst/>
            <a:cxnLst/>
            <a:rect l="l" t="t" r="r" b="b"/>
            <a:pathLst>
              <a:path w="1109947" h="1109947">
                <a:moveTo>
                  <a:pt x="0" y="0"/>
                </a:moveTo>
                <a:lnTo>
                  <a:pt x="1109947" y="0"/>
                </a:lnTo>
                <a:lnTo>
                  <a:pt x="1109947" y="1109947"/>
                </a:lnTo>
                <a:lnTo>
                  <a:pt x="0" y="1109947"/>
                </a:lnTo>
                <a:lnTo>
                  <a:pt x="0" y="0"/>
                </a:lnTo>
                <a:close/>
              </a:path>
            </a:pathLst>
          </a:custGeom>
          <a:blipFill>
            <a:blip r:embed="rId19"/>
            <a:stretch>
              <a:fillRect/>
            </a:stretch>
          </a:blipFill>
        </p:spPr>
      </p:sp>
      <p:sp>
        <p:nvSpPr>
          <p:cNvPr id="65" name="Freeform 65"/>
          <p:cNvSpPr/>
          <p:nvPr/>
        </p:nvSpPr>
        <p:spPr>
          <a:xfrm>
            <a:off x="14037761" y="7015555"/>
            <a:ext cx="1520138" cy="931648"/>
          </a:xfrm>
          <a:custGeom>
            <a:avLst/>
            <a:gdLst/>
            <a:ahLst/>
            <a:cxnLst/>
            <a:rect l="l" t="t" r="r" b="b"/>
            <a:pathLst>
              <a:path w="1520138" h="931648">
                <a:moveTo>
                  <a:pt x="0" y="0"/>
                </a:moveTo>
                <a:lnTo>
                  <a:pt x="1520139" y="0"/>
                </a:lnTo>
                <a:lnTo>
                  <a:pt x="1520139" y="931648"/>
                </a:lnTo>
                <a:lnTo>
                  <a:pt x="0" y="931648"/>
                </a:lnTo>
                <a:lnTo>
                  <a:pt x="0" y="0"/>
                </a:lnTo>
                <a:close/>
              </a:path>
            </a:pathLst>
          </a:custGeom>
          <a:blipFill>
            <a:blip r:embed="rId20"/>
            <a:stretch>
              <a:fillRect/>
            </a:stretch>
          </a:blipFill>
        </p:spPr>
      </p:sp>
      <p:sp>
        <p:nvSpPr>
          <p:cNvPr id="66" name="Freeform 66"/>
          <p:cNvSpPr/>
          <p:nvPr/>
        </p:nvSpPr>
        <p:spPr>
          <a:xfrm>
            <a:off x="16333749" y="6898531"/>
            <a:ext cx="1109947" cy="1109947"/>
          </a:xfrm>
          <a:custGeom>
            <a:avLst/>
            <a:gdLst/>
            <a:ahLst/>
            <a:cxnLst/>
            <a:rect l="l" t="t" r="r" b="b"/>
            <a:pathLst>
              <a:path w="1109947" h="1109947">
                <a:moveTo>
                  <a:pt x="0" y="0"/>
                </a:moveTo>
                <a:lnTo>
                  <a:pt x="1109947" y="0"/>
                </a:lnTo>
                <a:lnTo>
                  <a:pt x="1109947" y="1109947"/>
                </a:lnTo>
                <a:lnTo>
                  <a:pt x="0" y="1109947"/>
                </a:lnTo>
                <a:lnTo>
                  <a:pt x="0" y="0"/>
                </a:lnTo>
                <a:close/>
              </a:path>
            </a:pathLst>
          </a:custGeom>
          <a:blipFill>
            <a:blip r:embed="rId21"/>
            <a:stretch>
              <a:fillRect/>
            </a:stretch>
          </a:blipFill>
        </p:spPr>
      </p:sp>
      <p:sp>
        <p:nvSpPr>
          <p:cNvPr id="67" name="TextBox 67"/>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FFFFFF"/>
                </a:solidFill>
                <a:latin typeface="Inter Bold"/>
                <a:ea typeface="Inter Bold"/>
                <a:cs typeface="Inter Bold"/>
                <a:sym typeface="Inter Bold"/>
              </a:rPr>
              <a:t>PHẦN I</a:t>
            </a:r>
          </a:p>
        </p:txBody>
      </p:sp>
      <p:sp>
        <p:nvSpPr>
          <p:cNvPr id="68" name="TextBox 68"/>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69" name="TextBox 69"/>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70" name="TextBox 70"/>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71" name="TextBox 71"/>
          <p:cNvSpPr txBox="1"/>
          <p:nvPr/>
        </p:nvSpPr>
        <p:spPr>
          <a:xfrm>
            <a:off x="6338739" y="1807573"/>
            <a:ext cx="6088222" cy="795023"/>
          </a:xfrm>
          <a:prstGeom prst="rect">
            <a:avLst/>
          </a:prstGeom>
        </p:spPr>
        <p:txBody>
          <a:bodyPr wrap="square" lIns="0" tIns="0" rIns="0" bIns="0" rtlCol="0" anchor="t">
            <a:spAutoFit/>
          </a:bodyPr>
          <a:lstStyle/>
          <a:p>
            <a:pPr algn="ctr">
              <a:lnSpc>
                <a:spcPts val="6579"/>
              </a:lnSpc>
              <a:spcBef>
                <a:spcPct val="0"/>
              </a:spcBef>
            </a:pPr>
            <a:r>
              <a:rPr lang="en-US" sz="4699" b="1">
                <a:solidFill>
                  <a:srgbClr val="FFFFFF"/>
                </a:solidFill>
                <a:latin typeface="Inter Bold"/>
                <a:ea typeface="Inter Bold"/>
                <a:cs typeface="Inter Bold"/>
                <a:sym typeface="Inter Bold"/>
              </a:rPr>
              <a:t>Công nghệ sử dụng</a:t>
            </a:r>
          </a:p>
        </p:txBody>
      </p:sp>
      <p:sp>
        <p:nvSpPr>
          <p:cNvPr id="72" name="TextBox 72"/>
          <p:cNvSpPr txBox="1"/>
          <p:nvPr/>
        </p:nvSpPr>
        <p:spPr>
          <a:xfrm>
            <a:off x="3830000" y="3182299"/>
            <a:ext cx="2259577" cy="497841"/>
          </a:xfrm>
          <a:prstGeom prst="rect">
            <a:avLst/>
          </a:prstGeom>
        </p:spPr>
        <p:txBody>
          <a:bodyPr lIns="0" tIns="0" rIns="0" bIns="0" rtlCol="0" anchor="t">
            <a:spAutoFit/>
          </a:bodyPr>
          <a:lstStyle/>
          <a:p>
            <a:pPr algn="ctr">
              <a:lnSpc>
                <a:spcPts val="4059"/>
              </a:lnSpc>
              <a:spcBef>
                <a:spcPct val="0"/>
              </a:spcBef>
            </a:pPr>
            <a:r>
              <a:rPr lang="en-US" sz="2899" b="1">
                <a:solidFill>
                  <a:srgbClr val="FFFFFF"/>
                </a:solidFill>
                <a:latin typeface="Inter Bold"/>
                <a:ea typeface="Inter Bold"/>
                <a:cs typeface="Inter Bold"/>
                <a:sym typeface="Inter Bold"/>
              </a:rPr>
              <a:t>FRONTEND</a:t>
            </a:r>
          </a:p>
        </p:txBody>
      </p:sp>
      <p:sp>
        <p:nvSpPr>
          <p:cNvPr id="73" name="TextBox 73"/>
          <p:cNvSpPr txBox="1"/>
          <p:nvPr/>
        </p:nvSpPr>
        <p:spPr>
          <a:xfrm>
            <a:off x="12993407" y="3173449"/>
            <a:ext cx="2003618" cy="497840"/>
          </a:xfrm>
          <a:prstGeom prst="rect">
            <a:avLst/>
          </a:prstGeom>
        </p:spPr>
        <p:txBody>
          <a:bodyPr lIns="0" tIns="0" rIns="0" bIns="0" rtlCol="0" anchor="t">
            <a:spAutoFit/>
          </a:bodyPr>
          <a:lstStyle/>
          <a:p>
            <a:pPr algn="ctr">
              <a:lnSpc>
                <a:spcPts val="4060"/>
              </a:lnSpc>
              <a:spcBef>
                <a:spcPct val="0"/>
              </a:spcBef>
            </a:pPr>
            <a:r>
              <a:rPr lang="en-US" sz="2900" b="1">
                <a:solidFill>
                  <a:srgbClr val="FFFFFF"/>
                </a:solidFill>
                <a:latin typeface="Inter Bold"/>
                <a:ea typeface="Inter Bold"/>
                <a:cs typeface="Inter Bold"/>
                <a:sym typeface="Inter Bold"/>
              </a:rPr>
              <a:t>BACKEND</a:t>
            </a:r>
          </a:p>
        </p:txBody>
      </p:sp>
      <p:sp>
        <p:nvSpPr>
          <p:cNvPr id="74" name="TextBox 74"/>
          <p:cNvSpPr txBox="1"/>
          <p:nvPr/>
        </p:nvSpPr>
        <p:spPr>
          <a:xfrm>
            <a:off x="1498824" y="5960984"/>
            <a:ext cx="1689800" cy="455296"/>
          </a:xfrm>
          <a:prstGeom prst="rect">
            <a:avLst/>
          </a:prstGeom>
        </p:spPr>
        <p:txBody>
          <a:bodyPr lIns="0" tIns="0" rIns="0" bIns="0" rtlCol="0" anchor="t">
            <a:spAutoFit/>
          </a:bodyPr>
          <a:lstStyle/>
          <a:p>
            <a:pPr algn="ctr">
              <a:lnSpc>
                <a:spcPts val="3779"/>
              </a:lnSpc>
              <a:spcBef>
                <a:spcPct val="0"/>
              </a:spcBef>
            </a:pPr>
            <a:r>
              <a:rPr lang="en-US" sz="2699" b="1">
                <a:solidFill>
                  <a:srgbClr val="FFFFFF"/>
                </a:solidFill>
                <a:latin typeface="Inter Bold"/>
                <a:ea typeface="Inter Bold"/>
                <a:cs typeface="Inter Bold"/>
                <a:sym typeface="Inter Bold"/>
              </a:rPr>
              <a:t>BẢO MẬT</a:t>
            </a:r>
          </a:p>
        </p:txBody>
      </p:sp>
      <p:sp>
        <p:nvSpPr>
          <p:cNvPr id="75" name="TextBox 75"/>
          <p:cNvSpPr txBox="1"/>
          <p:nvPr/>
        </p:nvSpPr>
        <p:spPr>
          <a:xfrm>
            <a:off x="7009068" y="5848097"/>
            <a:ext cx="477044" cy="639446"/>
          </a:xfrm>
          <a:prstGeom prst="rect">
            <a:avLst/>
          </a:prstGeom>
        </p:spPr>
        <p:txBody>
          <a:bodyPr lIns="0" tIns="0" rIns="0" bIns="0" rtlCol="0" anchor="t">
            <a:spAutoFit/>
          </a:bodyPr>
          <a:lstStyle/>
          <a:p>
            <a:pPr algn="ctr">
              <a:lnSpc>
                <a:spcPts val="5179"/>
              </a:lnSpc>
              <a:spcBef>
                <a:spcPct val="0"/>
              </a:spcBef>
            </a:pPr>
            <a:r>
              <a:rPr lang="en-US" sz="3699" b="1">
                <a:solidFill>
                  <a:srgbClr val="FFFFFF"/>
                </a:solidFill>
                <a:latin typeface="Inter Bold"/>
                <a:ea typeface="Inter Bold"/>
                <a:cs typeface="Inter Bold"/>
                <a:sym typeface="Inter Bold"/>
              </a:rPr>
              <a:t>AI</a:t>
            </a:r>
          </a:p>
        </p:txBody>
      </p:sp>
      <p:sp>
        <p:nvSpPr>
          <p:cNvPr id="76" name="TextBox 76"/>
          <p:cNvSpPr txBox="1"/>
          <p:nvPr/>
        </p:nvSpPr>
        <p:spPr>
          <a:xfrm>
            <a:off x="12784924" y="5977034"/>
            <a:ext cx="2448526" cy="495301"/>
          </a:xfrm>
          <a:prstGeom prst="rect">
            <a:avLst/>
          </a:prstGeom>
        </p:spPr>
        <p:txBody>
          <a:bodyPr lIns="0" tIns="0" rIns="0" bIns="0" rtlCol="0" anchor="t">
            <a:spAutoFit/>
          </a:bodyPr>
          <a:lstStyle/>
          <a:p>
            <a:pPr algn="ctr">
              <a:lnSpc>
                <a:spcPts val="4199"/>
              </a:lnSpc>
              <a:spcBef>
                <a:spcPct val="0"/>
              </a:spcBef>
            </a:pPr>
            <a:r>
              <a:rPr lang="en-US" sz="2999" b="1">
                <a:solidFill>
                  <a:srgbClr val="FFFFFF"/>
                </a:solidFill>
                <a:latin typeface="Inter Bold"/>
                <a:ea typeface="Inter Bold"/>
                <a:cs typeface="Inter Bold"/>
                <a:sym typeface="Inter Bold"/>
              </a:rPr>
              <a:t>TRIỂN KHAI</a:t>
            </a:r>
          </a:p>
        </p:txBody>
      </p:sp>
      <p:grpSp>
        <p:nvGrpSpPr>
          <p:cNvPr id="77" name="Group 77"/>
          <p:cNvGrpSpPr/>
          <p:nvPr/>
        </p:nvGrpSpPr>
        <p:grpSpPr>
          <a:xfrm>
            <a:off x="1088774" y="8878813"/>
            <a:ext cx="16110451" cy="1076751"/>
            <a:chOff x="0" y="0"/>
            <a:chExt cx="4243082" cy="283589"/>
          </a:xfrm>
        </p:grpSpPr>
        <p:sp>
          <p:nvSpPr>
            <p:cNvPr id="78" name="Freeform 78"/>
            <p:cNvSpPr/>
            <p:nvPr/>
          </p:nvSpPr>
          <p:spPr>
            <a:xfrm>
              <a:off x="0" y="0"/>
              <a:ext cx="4243082" cy="283589"/>
            </a:xfrm>
            <a:custGeom>
              <a:avLst/>
              <a:gdLst/>
              <a:ahLst/>
              <a:cxnLst/>
              <a:rect l="l" t="t" r="r" b="b"/>
              <a:pathLst>
                <a:path w="4243082" h="283589">
                  <a:moveTo>
                    <a:pt x="24508" y="0"/>
                  </a:moveTo>
                  <a:lnTo>
                    <a:pt x="4218574" y="0"/>
                  </a:lnTo>
                  <a:cubicBezTo>
                    <a:pt x="4232109" y="0"/>
                    <a:pt x="4243082" y="10973"/>
                    <a:pt x="4243082" y="24508"/>
                  </a:cubicBezTo>
                  <a:lnTo>
                    <a:pt x="4243082" y="259080"/>
                  </a:lnTo>
                  <a:cubicBezTo>
                    <a:pt x="4243082" y="272616"/>
                    <a:pt x="4232109" y="283589"/>
                    <a:pt x="4218574" y="283589"/>
                  </a:cubicBezTo>
                  <a:lnTo>
                    <a:pt x="24508" y="283589"/>
                  </a:lnTo>
                  <a:cubicBezTo>
                    <a:pt x="10973" y="283589"/>
                    <a:pt x="0" y="272616"/>
                    <a:pt x="0" y="259080"/>
                  </a:cubicBezTo>
                  <a:lnTo>
                    <a:pt x="0" y="24508"/>
                  </a:lnTo>
                  <a:cubicBezTo>
                    <a:pt x="0" y="10973"/>
                    <a:pt x="10973" y="0"/>
                    <a:pt x="24508" y="0"/>
                  </a:cubicBezTo>
                  <a:close/>
                </a:path>
              </a:pathLst>
            </a:custGeom>
            <a:solidFill>
              <a:srgbClr val="D7ECF3"/>
            </a:solidFill>
            <a:ln w="9525" cap="rnd">
              <a:solidFill>
                <a:srgbClr val="004AAD"/>
              </a:solidFill>
              <a:prstDash val="solid"/>
              <a:round/>
            </a:ln>
          </p:spPr>
        </p:sp>
        <p:sp>
          <p:nvSpPr>
            <p:cNvPr id="79" name="TextBox 79"/>
            <p:cNvSpPr txBox="1"/>
            <p:nvPr/>
          </p:nvSpPr>
          <p:spPr>
            <a:xfrm>
              <a:off x="0" y="-38100"/>
              <a:ext cx="4243082" cy="321689"/>
            </a:xfrm>
            <a:prstGeom prst="rect">
              <a:avLst/>
            </a:prstGeom>
          </p:spPr>
          <p:txBody>
            <a:bodyPr lIns="50800" tIns="50800" rIns="50800" bIns="50800" rtlCol="0" anchor="ctr"/>
            <a:lstStyle/>
            <a:p>
              <a:pPr algn="ctr">
                <a:lnSpc>
                  <a:spcPts val="2659"/>
                </a:lnSpc>
              </a:pPr>
              <a:endParaRPr/>
            </a:p>
          </p:txBody>
        </p:sp>
      </p:grpSp>
      <p:sp>
        <p:nvSpPr>
          <p:cNvPr id="80" name="TextBox 80"/>
          <p:cNvSpPr txBox="1"/>
          <p:nvPr/>
        </p:nvSpPr>
        <p:spPr>
          <a:xfrm>
            <a:off x="1293434" y="8888338"/>
            <a:ext cx="15377282" cy="895986"/>
          </a:xfrm>
          <a:prstGeom prst="rect">
            <a:avLst/>
          </a:prstGeom>
        </p:spPr>
        <p:txBody>
          <a:bodyPr lIns="0" tIns="0" rIns="0" bIns="0" rtlCol="0" anchor="t">
            <a:spAutoFit/>
          </a:bodyPr>
          <a:lstStyle/>
          <a:p>
            <a:pPr algn="just">
              <a:lnSpc>
                <a:spcPts val="3639"/>
              </a:lnSpc>
              <a:spcBef>
                <a:spcPct val="0"/>
              </a:spcBef>
            </a:pPr>
            <a:r>
              <a:rPr lang="en-US" sz="2599" i="1">
                <a:solidFill>
                  <a:srgbClr val="000000"/>
                </a:solidFill>
                <a:latin typeface="Inter Italics"/>
                <a:ea typeface="Inter Italics"/>
                <a:cs typeface="Inter Italics"/>
                <a:sym typeface="Inter Italics"/>
              </a:rPr>
              <a:t>Hệ thống được xây dựng với các công nghệ hiện đại nhằm đảm bảo </a:t>
            </a:r>
            <a:r>
              <a:rPr lang="en-US" sz="2599" i="1">
                <a:solidFill>
                  <a:srgbClr val="FF3131"/>
                </a:solidFill>
                <a:latin typeface="Inter Italics"/>
                <a:ea typeface="Inter Italics"/>
                <a:cs typeface="Inter Italics"/>
                <a:sym typeface="Inter Italics"/>
              </a:rPr>
              <a:t>hiệu năng cao</a:t>
            </a:r>
            <a:r>
              <a:rPr lang="en-US" sz="2599" i="1">
                <a:solidFill>
                  <a:srgbClr val="000000"/>
                </a:solidFill>
                <a:latin typeface="Inter Italics"/>
                <a:ea typeface="Inter Italics"/>
                <a:cs typeface="Inter Italics"/>
                <a:sym typeface="Inter Italics"/>
              </a:rPr>
              <a:t>, </a:t>
            </a:r>
            <a:r>
              <a:rPr lang="en-US" sz="2599" i="1">
                <a:solidFill>
                  <a:srgbClr val="FF3131"/>
                </a:solidFill>
                <a:latin typeface="Inter Italics"/>
                <a:ea typeface="Inter Italics"/>
                <a:cs typeface="Inter Italics"/>
                <a:sym typeface="Inter Italics"/>
              </a:rPr>
              <a:t>bảo mật</a:t>
            </a:r>
            <a:r>
              <a:rPr lang="en-US" sz="2599" i="1">
                <a:solidFill>
                  <a:srgbClr val="000000"/>
                </a:solidFill>
                <a:latin typeface="Inter Italics"/>
                <a:ea typeface="Inter Italics"/>
                <a:cs typeface="Inter Italics"/>
                <a:sym typeface="Inter Italics"/>
              </a:rPr>
              <a:t>, </a:t>
            </a:r>
            <a:r>
              <a:rPr lang="en-US" sz="2599" i="1">
                <a:solidFill>
                  <a:srgbClr val="FF3131"/>
                </a:solidFill>
                <a:latin typeface="Inter Italics"/>
                <a:ea typeface="Inter Italics"/>
                <a:cs typeface="Inter Italics"/>
                <a:sym typeface="Inter Italics"/>
              </a:rPr>
              <a:t>khả năng mở rộng</a:t>
            </a:r>
            <a:r>
              <a:rPr lang="en-US" sz="2599" i="1">
                <a:solidFill>
                  <a:srgbClr val="000000"/>
                </a:solidFill>
                <a:latin typeface="Inter Italics"/>
                <a:ea typeface="Inter Italics"/>
                <a:cs typeface="Inter Italics"/>
                <a:sym typeface="Inter Italics"/>
              </a:rPr>
              <a:t> và </a:t>
            </a:r>
            <a:r>
              <a:rPr lang="en-US" sz="2599" i="1">
                <a:solidFill>
                  <a:srgbClr val="FF3131"/>
                </a:solidFill>
                <a:latin typeface="Inter Italics"/>
                <a:ea typeface="Inter Italics"/>
                <a:cs typeface="Inter Italics"/>
                <a:sym typeface="Inter Italics"/>
              </a:rPr>
              <a:t>trải nghiệm người dùng tốt nhất</a:t>
            </a:r>
            <a:r>
              <a:rPr lang="en-US" sz="2599" i="1">
                <a:solidFill>
                  <a:srgbClr val="000000"/>
                </a:solidFill>
                <a:latin typeface="Inter Italics"/>
                <a:ea typeface="Inter Italics"/>
                <a:cs typeface="Inter Italics"/>
                <a:sym typeface="Inter Italics"/>
              </a:rPr>
              <a:t>.</a:t>
            </a:r>
          </a:p>
        </p:txBody>
      </p:sp>
      <p:sp>
        <p:nvSpPr>
          <p:cNvPr id="81" name="TextBox 81"/>
          <p:cNvSpPr txBox="1"/>
          <p:nvPr/>
        </p:nvSpPr>
        <p:spPr>
          <a:xfrm>
            <a:off x="17633099" y="9508547"/>
            <a:ext cx="232073"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16" name="TextBox 16"/>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17" name="TextBox 17"/>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18" name="TextBox 18"/>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grpSp>
        <p:nvGrpSpPr>
          <p:cNvPr id="19" name="Group 19"/>
          <p:cNvGrpSpPr/>
          <p:nvPr/>
        </p:nvGrpSpPr>
        <p:grpSpPr>
          <a:xfrm>
            <a:off x="0" y="1643908"/>
            <a:ext cx="18250078" cy="1099203"/>
            <a:chOff x="0" y="0"/>
            <a:chExt cx="4806605" cy="289502"/>
          </a:xfrm>
        </p:grpSpPr>
        <p:sp>
          <p:nvSpPr>
            <p:cNvPr id="20" name="Freeform 20"/>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21" name="TextBox 21"/>
            <p:cNvSpPr txBox="1"/>
            <p:nvPr/>
          </p:nvSpPr>
          <p:spPr>
            <a:xfrm>
              <a:off x="0" y="4920"/>
              <a:ext cx="4806605" cy="284582"/>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DINH DƯỠNG</a:t>
              </a:r>
            </a:p>
          </p:txBody>
        </p:sp>
      </p:grpSp>
      <p:sp>
        <p:nvSpPr>
          <p:cNvPr id="22" name="TextBox 22"/>
          <p:cNvSpPr txBox="1"/>
          <p:nvPr/>
        </p:nvSpPr>
        <p:spPr>
          <a:xfrm>
            <a:off x="3605524" y="3124111"/>
            <a:ext cx="13634815" cy="3207387"/>
          </a:xfrm>
          <a:prstGeom prst="rect">
            <a:avLst/>
          </a:prstGeom>
        </p:spPr>
        <p:txBody>
          <a:bodyPr lIns="0" tIns="0" rIns="0" bIns="0" rtlCol="0" anchor="t">
            <a:spAutoFit/>
          </a:bodyPr>
          <a:lstStyle/>
          <a:p>
            <a:pPr algn="just">
              <a:lnSpc>
                <a:spcPts val="6439"/>
              </a:lnSpc>
              <a:spcBef>
                <a:spcPct val="0"/>
              </a:spcBef>
            </a:pPr>
            <a:r>
              <a:rPr lang="en-US" sz="4599" i="1">
                <a:solidFill>
                  <a:srgbClr val="000000"/>
                </a:solidFill>
                <a:latin typeface="Inter Italics"/>
                <a:ea typeface="Inter Italics"/>
                <a:cs typeface="Inter Italics"/>
                <a:sym typeface="Inter Italics"/>
              </a:rPr>
              <a:t>Dinh dưỡng là quá trình cơ thể tiếp nhận, chuyển hóa và sử dụng các chất dinh dưỡng từ thực phẩm để duy trì sự sống, phát triển và cung cấp năng lượng.</a:t>
            </a:r>
          </a:p>
        </p:txBody>
      </p:sp>
      <p:grpSp>
        <p:nvGrpSpPr>
          <p:cNvPr id="23" name="Group 23"/>
          <p:cNvGrpSpPr/>
          <p:nvPr/>
        </p:nvGrpSpPr>
        <p:grpSpPr>
          <a:xfrm>
            <a:off x="198156" y="3209836"/>
            <a:ext cx="3086100" cy="308610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00AD"/>
            </a:solidFill>
          </p:spPr>
        </p:sp>
        <p:sp>
          <p:nvSpPr>
            <p:cNvPr id="25" name="TextBox 25"/>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a:solidFill>
                    <a:srgbClr val="FFFFFF"/>
                  </a:solidFill>
                  <a:latin typeface="Inter Bold"/>
                  <a:ea typeface="Inter Bold"/>
                  <a:cs typeface="Inter Bold"/>
                  <a:sym typeface="Inter Bold"/>
                </a:rPr>
                <a:t>Khái niệm</a:t>
              </a:r>
            </a:p>
          </p:txBody>
        </p:sp>
      </p:grpSp>
      <p:sp>
        <p:nvSpPr>
          <p:cNvPr id="26" name="TextBox 26"/>
          <p:cNvSpPr txBox="1"/>
          <p:nvPr/>
        </p:nvSpPr>
        <p:spPr>
          <a:xfrm>
            <a:off x="3605524" y="6810921"/>
            <a:ext cx="13434204" cy="3207385"/>
          </a:xfrm>
          <a:prstGeom prst="rect">
            <a:avLst/>
          </a:prstGeom>
        </p:spPr>
        <p:txBody>
          <a:bodyPr lIns="0" tIns="0" rIns="0" bIns="0" rtlCol="0" anchor="t">
            <a:spAutoFit/>
          </a:bodyPr>
          <a:lstStyle/>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Cung cấp năng lượng cho cơ thể.</a:t>
            </a:r>
          </a:p>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Hỗ trợ tăng trưởng và phục hồi mô.</a:t>
            </a:r>
          </a:p>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Duy trì hoạt động của các cơ quan.</a:t>
            </a:r>
          </a:p>
          <a:p>
            <a:pPr marL="993141" lvl="1" indent="-496571" algn="l">
              <a:lnSpc>
                <a:spcPts val="6440"/>
              </a:lnSpc>
              <a:spcBef>
                <a:spcPct val="0"/>
              </a:spcBef>
              <a:buFont typeface="Arial"/>
              <a:buChar char="•"/>
            </a:pPr>
            <a:r>
              <a:rPr lang="en-US" sz="4600">
                <a:solidFill>
                  <a:srgbClr val="000000"/>
                </a:solidFill>
                <a:latin typeface="Source Sans 3"/>
                <a:ea typeface="Source Sans 3"/>
                <a:cs typeface="Source Sans 3"/>
                <a:sym typeface="Source Sans 3"/>
              </a:rPr>
              <a:t>Nâng cao sức khỏe và thể trạng.</a:t>
            </a:r>
          </a:p>
        </p:txBody>
      </p:sp>
      <p:grpSp>
        <p:nvGrpSpPr>
          <p:cNvPr id="27" name="Group 27"/>
          <p:cNvGrpSpPr/>
          <p:nvPr/>
        </p:nvGrpSpPr>
        <p:grpSpPr>
          <a:xfrm>
            <a:off x="198156" y="7131417"/>
            <a:ext cx="3086100" cy="2652117"/>
            <a:chOff x="0" y="0"/>
            <a:chExt cx="812800" cy="698500"/>
          </a:xfrm>
        </p:grpSpPr>
        <p:sp>
          <p:nvSpPr>
            <p:cNvPr id="28" name="Freeform 2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1800AD"/>
            </a:solidFill>
          </p:spPr>
        </p:sp>
        <p:sp>
          <p:nvSpPr>
            <p:cNvPr id="29" name="TextBox 29"/>
            <p:cNvSpPr txBox="1"/>
            <p:nvPr/>
          </p:nvSpPr>
          <p:spPr>
            <a:xfrm>
              <a:off x="114300" y="-76200"/>
              <a:ext cx="584200" cy="774700"/>
            </a:xfrm>
            <a:prstGeom prst="rect">
              <a:avLst/>
            </a:prstGeom>
          </p:spPr>
          <p:txBody>
            <a:bodyPr lIns="50800" tIns="50800" rIns="50800" bIns="50800" rtlCol="0" anchor="ctr"/>
            <a:lstStyle/>
            <a:p>
              <a:pPr algn="ctr">
                <a:lnSpc>
                  <a:spcPts val="5599"/>
                </a:lnSpc>
              </a:pPr>
              <a:r>
                <a:rPr lang="en-US" sz="3999" b="1">
                  <a:solidFill>
                    <a:srgbClr val="FFFFFF"/>
                  </a:solidFill>
                  <a:latin typeface="Inter Bold"/>
                  <a:ea typeface="Inter Bold"/>
                  <a:cs typeface="Inter Bold"/>
                  <a:sym typeface="Inter Bold"/>
                </a:rPr>
                <a:t>Vai trò</a:t>
              </a:r>
            </a:p>
          </p:txBody>
        </p:sp>
      </p:grpSp>
      <p:sp>
        <p:nvSpPr>
          <p:cNvPr id="30" name="TextBox 30"/>
          <p:cNvSpPr txBox="1"/>
          <p:nvPr/>
        </p:nvSpPr>
        <p:spPr>
          <a:xfrm>
            <a:off x="17628584" y="9508547"/>
            <a:ext cx="241102"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643908"/>
            <a:ext cx="18250078" cy="1099203"/>
            <a:chOff x="0" y="0"/>
            <a:chExt cx="4806605" cy="289502"/>
          </a:xfrm>
        </p:grpSpPr>
        <p:sp>
          <p:nvSpPr>
            <p:cNvPr id="16" name="Freeform 16"/>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17" name="TextBox 17"/>
            <p:cNvSpPr txBox="1"/>
            <p:nvPr/>
          </p:nvSpPr>
          <p:spPr>
            <a:xfrm>
              <a:off x="0" y="4920"/>
              <a:ext cx="4806605" cy="284582"/>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CÁC CHỈ SỐ ĐÁNH GIÁ CƠ THỂ</a:t>
              </a:r>
            </a:p>
          </p:txBody>
        </p:sp>
      </p:grpSp>
      <p:grpSp>
        <p:nvGrpSpPr>
          <p:cNvPr id="18" name="Group 18"/>
          <p:cNvGrpSpPr/>
          <p:nvPr/>
        </p:nvGrpSpPr>
        <p:grpSpPr>
          <a:xfrm>
            <a:off x="7966283" y="2847619"/>
            <a:ext cx="2355435" cy="1177717"/>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95250"/>
              <a:ext cx="812800" cy="501650"/>
            </a:xfrm>
            <a:prstGeom prst="rect">
              <a:avLst/>
            </a:prstGeom>
          </p:spPr>
          <p:txBody>
            <a:bodyPr lIns="50800" tIns="50800" rIns="50800" bIns="50800" rtlCol="0" anchor="ctr"/>
            <a:lstStyle/>
            <a:p>
              <a:pPr algn="ctr">
                <a:lnSpc>
                  <a:spcPts val="7279"/>
                </a:lnSpc>
              </a:pPr>
              <a:r>
                <a:rPr lang="en-US" sz="5199" b="1">
                  <a:solidFill>
                    <a:srgbClr val="FFFFFF"/>
                  </a:solidFill>
                  <a:latin typeface="Inter Bold"/>
                  <a:ea typeface="Inter Bold"/>
                  <a:cs typeface="Inter Bold"/>
                  <a:sym typeface="Inter Bold"/>
                </a:rPr>
                <a:t>BMI</a:t>
              </a:r>
            </a:p>
          </p:txBody>
        </p:sp>
      </p:grpSp>
      <p:grpSp>
        <p:nvGrpSpPr>
          <p:cNvPr id="21" name="Group 21"/>
          <p:cNvGrpSpPr/>
          <p:nvPr/>
        </p:nvGrpSpPr>
        <p:grpSpPr>
          <a:xfrm>
            <a:off x="294296" y="4237379"/>
            <a:ext cx="8405857" cy="2381072"/>
            <a:chOff x="0" y="0"/>
            <a:chExt cx="2213888" cy="627114"/>
          </a:xfrm>
        </p:grpSpPr>
        <p:sp>
          <p:nvSpPr>
            <p:cNvPr id="22" name="Freeform 22"/>
            <p:cNvSpPr/>
            <p:nvPr/>
          </p:nvSpPr>
          <p:spPr>
            <a:xfrm>
              <a:off x="0" y="0"/>
              <a:ext cx="2213888" cy="627114"/>
            </a:xfrm>
            <a:custGeom>
              <a:avLst/>
              <a:gdLst/>
              <a:ahLst/>
              <a:cxnLst/>
              <a:rect l="l" t="t" r="r" b="b"/>
              <a:pathLst>
                <a:path w="2213888" h="627114">
                  <a:moveTo>
                    <a:pt x="15657" y="0"/>
                  </a:moveTo>
                  <a:lnTo>
                    <a:pt x="2198231" y="0"/>
                  </a:lnTo>
                  <a:cubicBezTo>
                    <a:pt x="2206878" y="0"/>
                    <a:pt x="2213888" y="7010"/>
                    <a:pt x="2213888" y="15657"/>
                  </a:cubicBezTo>
                  <a:lnTo>
                    <a:pt x="2213888" y="611456"/>
                  </a:lnTo>
                  <a:cubicBezTo>
                    <a:pt x="2213888" y="615609"/>
                    <a:pt x="2212239" y="619591"/>
                    <a:pt x="2209302" y="622528"/>
                  </a:cubicBezTo>
                  <a:cubicBezTo>
                    <a:pt x="2206366" y="625464"/>
                    <a:pt x="2202383" y="627114"/>
                    <a:pt x="2198231" y="627114"/>
                  </a:cubicBezTo>
                  <a:lnTo>
                    <a:pt x="15657" y="627114"/>
                  </a:lnTo>
                  <a:cubicBezTo>
                    <a:pt x="7010" y="627114"/>
                    <a:pt x="0" y="620104"/>
                    <a:pt x="0" y="611456"/>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3" name="TextBox 23"/>
            <p:cNvSpPr txBox="1"/>
            <p:nvPr/>
          </p:nvSpPr>
          <p:spPr>
            <a:xfrm>
              <a:off x="0" y="-38100"/>
              <a:ext cx="2213888" cy="665214"/>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27557" y="4082486"/>
            <a:ext cx="1881143" cy="844431"/>
            <a:chOff x="0" y="0"/>
            <a:chExt cx="905339" cy="406400"/>
          </a:xfrm>
        </p:grpSpPr>
        <p:sp>
          <p:nvSpPr>
            <p:cNvPr id="25" name="Freeform 25"/>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6" name="TextBox 26"/>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7" name="Group 27"/>
          <p:cNvGrpSpPr/>
          <p:nvPr/>
        </p:nvGrpSpPr>
        <p:grpSpPr>
          <a:xfrm>
            <a:off x="294296" y="7240068"/>
            <a:ext cx="8405857" cy="2573352"/>
            <a:chOff x="0" y="0"/>
            <a:chExt cx="2213888" cy="677755"/>
          </a:xfrm>
        </p:grpSpPr>
        <p:sp>
          <p:nvSpPr>
            <p:cNvPr id="28" name="Freeform 28"/>
            <p:cNvSpPr/>
            <p:nvPr/>
          </p:nvSpPr>
          <p:spPr>
            <a:xfrm>
              <a:off x="0" y="0"/>
              <a:ext cx="2213888" cy="677755"/>
            </a:xfrm>
            <a:custGeom>
              <a:avLst/>
              <a:gdLst/>
              <a:ahLst/>
              <a:cxnLst/>
              <a:rect l="l" t="t" r="r" b="b"/>
              <a:pathLst>
                <a:path w="2213888" h="677755">
                  <a:moveTo>
                    <a:pt x="15657" y="0"/>
                  </a:moveTo>
                  <a:lnTo>
                    <a:pt x="2198231" y="0"/>
                  </a:lnTo>
                  <a:cubicBezTo>
                    <a:pt x="2206878" y="0"/>
                    <a:pt x="2213888" y="7010"/>
                    <a:pt x="2213888" y="15657"/>
                  </a:cubicBezTo>
                  <a:lnTo>
                    <a:pt x="2213888" y="662098"/>
                  </a:lnTo>
                  <a:cubicBezTo>
                    <a:pt x="2213888" y="666251"/>
                    <a:pt x="2212239" y="670233"/>
                    <a:pt x="2209302" y="673169"/>
                  </a:cubicBezTo>
                  <a:cubicBezTo>
                    <a:pt x="2206366" y="676106"/>
                    <a:pt x="2202383" y="677755"/>
                    <a:pt x="2198231" y="677755"/>
                  </a:cubicBezTo>
                  <a:lnTo>
                    <a:pt x="15657" y="677755"/>
                  </a:lnTo>
                  <a:cubicBezTo>
                    <a:pt x="7010" y="677755"/>
                    <a:pt x="0" y="670745"/>
                    <a:pt x="0" y="662098"/>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9" name="TextBox 29"/>
            <p:cNvSpPr txBox="1"/>
            <p:nvPr/>
          </p:nvSpPr>
          <p:spPr>
            <a:xfrm>
              <a:off x="0" y="-38100"/>
              <a:ext cx="2213888" cy="715855"/>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427557" y="7085176"/>
            <a:ext cx="2222174" cy="844431"/>
            <a:chOff x="0" y="0"/>
            <a:chExt cx="1069467" cy="406400"/>
          </a:xfrm>
        </p:grpSpPr>
        <p:sp>
          <p:nvSpPr>
            <p:cNvPr id="31" name="Freeform 31"/>
            <p:cNvSpPr/>
            <p:nvPr/>
          </p:nvSpPr>
          <p:spPr>
            <a:xfrm>
              <a:off x="0" y="0"/>
              <a:ext cx="1069467" cy="406400"/>
            </a:xfrm>
            <a:custGeom>
              <a:avLst/>
              <a:gdLst/>
              <a:ahLst/>
              <a:cxnLst/>
              <a:rect l="l" t="t" r="r" b="b"/>
              <a:pathLst>
                <a:path w="1069467" h="406400">
                  <a:moveTo>
                    <a:pt x="866267" y="0"/>
                  </a:moveTo>
                  <a:cubicBezTo>
                    <a:pt x="978491" y="0"/>
                    <a:pt x="1069467" y="90976"/>
                    <a:pt x="1069467" y="203200"/>
                  </a:cubicBezTo>
                  <a:cubicBezTo>
                    <a:pt x="1069467" y="315424"/>
                    <a:pt x="978491" y="406400"/>
                    <a:pt x="866267"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2" name="TextBox 32"/>
            <p:cNvSpPr txBox="1"/>
            <p:nvPr/>
          </p:nvSpPr>
          <p:spPr>
            <a:xfrm>
              <a:off x="0" y="-47625"/>
              <a:ext cx="1069467"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Công thức</a:t>
              </a:r>
            </a:p>
          </p:txBody>
        </p:sp>
      </p:grpSp>
      <p:sp>
        <p:nvSpPr>
          <p:cNvPr id="33" name="Freeform 33"/>
          <p:cNvSpPr/>
          <p:nvPr/>
        </p:nvSpPr>
        <p:spPr>
          <a:xfrm>
            <a:off x="1690303" y="8015332"/>
            <a:ext cx="5803985" cy="1485820"/>
          </a:xfrm>
          <a:custGeom>
            <a:avLst/>
            <a:gdLst/>
            <a:ahLst/>
            <a:cxnLst/>
            <a:rect l="l" t="t" r="r" b="b"/>
            <a:pathLst>
              <a:path w="5803985" h="1485820">
                <a:moveTo>
                  <a:pt x="0" y="0"/>
                </a:moveTo>
                <a:lnTo>
                  <a:pt x="5803986" y="0"/>
                </a:lnTo>
                <a:lnTo>
                  <a:pt x="5803986" y="1485820"/>
                </a:lnTo>
                <a:lnTo>
                  <a:pt x="0" y="1485820"/>
                </a:lnTo>
                <a:lnTo>
                  <a:pt x="0" y="0"/>
                </a:lnTo>
                <a:close/>
              </a:path>
            </a:pathLst>
          </a:custGeom>
          <a:blipFill>
            <a:blip r:embed="rId2"/>
            <a:stretch>
              <a:fillRect/>
            </a:stretch>
          </a:blipFill>
        </p:spPr>
      </p:sp>
      <p:graphicFrame>
        <p:nvGraphicFramePr>
          <p:cNvPr id="34" name="Object 34"/>
          <p:cNvGraphicFramePr/>
          <p:nvPr/>
        </p:nvGraphicFramePr>
        <p:xfrm>
          <a:off x="9553592" y="4237379"/>
          <a:ext cx="7586157" cy="4274588"/>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9553592" y="4237379"/>
                        <a:ext cx="7586157" cy="4274588"/>
                      </a:xfrm>
                      <a:prstGeom prst="rect">
                        <a:avLst/>
                      </a:prstGeom>
                    </p:spPr>
                  </p:pic>
                </p:oleObj>
              </mc:Fallback>
            </mc:AlternateContent>
          </a:graphicData>
        </a:graphic>
      </p:graphicFrame>
      <p:sp>
        <p:nvSpPr>
          <p:cNvPr id="35" name="TextBox 35"/>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36" name="TextBox 36"/>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37" name="TextBox 37"/>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38" name="TextBox 38"/>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9" name="TextBox 39"/>
          <p:cNvSpPr txBox="1"/>
          <p:nvPr/>
        </p:nvSpPr>
        <p:spPr>
          <a:xfrm>
            <a:off x="484707" y="5041218"/>
            <a:ext cx="7989249" cy="1289050"/>
          </a:xfrm>
          <a:prstGeom prst="rect">
            <a:avLst/>
          </a:prstGeom>
        </p:spPr>
        <p:txBody>
          <a:bodyPr lIns="0" tIns="0" rIns="0" bIns="0" rtlCol="0" anchor="t">
            <a:spAutoFit/>
          </a:bodyPr>
          <a:lstStyle/>
          <a:p>
            <a:pPr algn="just">
              <a:lnSpc>
                <a:spcPts val="3499"/>
              </a:lnSpc>
              <a:spcBef>
                <a:spcPct val="0"/>
              </a:spcBef>
            </a:pPr>
            <a:r>
              <a:rPr lang="en-US" sz="2499" i="1">
                <a:solidFill>
                  <a:srgbClr val="000000"/>
                </a:solidFill>
                <a:latin typeface="Inter Italics"/>
                <a:ea typeface="Inter Italics"/>
                <a:cs typeface="Inter Italics"/>
                <a:sym typeface="Inter Italics"/>
              </a:rPr>
              <a:t>BMI là chỉ số khối cơ thể, được sử dụng để đánh giá tình trạng cân nặng dựa trên chiều cao và cân nặng của một người trưởng thành.</a:t>
            </a:r>
          </a:p>
        </p:txBody>
      </p:sp>
      <p:sp>
        <p:nvSpPr>
          <p:cNvPr id="40" name="TextBox 40"/>
          <p:cNvSpPr txBox="1"/>
          <p:nvPr/>
        </p:nvSpPr>
        <p:spPr>
          <a:xfrm>
            <a:off x="17639945" y="9508547"/>
            <a:ext cx="218380"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643908"/>
            <a:ext cx="18250078" cy="1099203"/>
            <a:chOff x="0" y="0"/>
            <a:chExt cx="4806605" cy="289502"/>
          </a:xfrm>
        </p:grpSpPr>
        <p:sp>
          <p:nvSpPr>
            <p:cNvPr id="16" name="Freeform 16"/>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17" name="TextBox 17"/>
            <p:cNvSpPr txBox="1"/>
            <p:nvPr/>
          </p:nvSpPr>
          <p:spPr>
            <a:xfrm>
              <a:off x="0" y="10636"/>
              <a:ext cx="4806605" cy="278866"/>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CÁC CHỈ SỐ ĐÁNH GIÁ CƠ THỂ</a:t>
              </a:r>
            </a:p>
          </p:txBody>
        </p:sp>
      </p:grpSp>
      <p:grpSp>
        <p:nvGrpSpPr>
          <p:cNvPr id="18" name="Group 18"/>
          <p:cNvGrpSpPr/>
          <p:nvPr/>
        </p:nvGrpSpPr>
        <p:grpSpPr>
          <a:xfrm>
            <a:off x="7966283" y="2847619"/>
            <a:ext cx="2355435" cy="1177717"/>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95250"/>
              <a:ext cx="812800" cy="501650"/>
            </a:xfrm>
            <a:prstGeom prst="rect">
              <a:avLst/>
            </a:prstGeom>
          </p:spPr>
          <p:txBody>
            <a:bodyPr lIns="50800" tIns="50800" rIns="50800" bIns="50800" rtlCol="0" anchor="ctr"/>
            <a:lstStyle/>
            <a:p>
              <a:pPr algn="ctr">
                <a:lnSpc>
                  <a:spcPts val="7279"/>
                </a:lnSpc>
              </a:pPr>
              <a:r>
                <a:rPr lang="en-US" sz="5199" b="1">
                  <a:solidFill>
                    <a:srgbClr val="FFFFFF"/>
                  </a:solidFill>
                  <a:latin typeface="Inter Bold"/>
                  <a:ea typeface="Inter Bold"/>
                  <a:cs typeface="Inter Bold"/>
                  <a:sym typeface="Inter Bold"/>
                </a:rPr>
                <a:t>BMR</a:t>
              </a:r>
            </a:p>
          </p:txBody>
        </p:sp>
      </p:grpSp>
      <p:grpSp>
        <p:nvGrpSpPr>
          <p:cNvPr id="21" name="Group 21"/>
          <p:cNvGrpSpPr/>
          <p:nvPr/>
        </p:nvGrpSpPr>
        <p:grpSpPr>
          <a:xfrm>
            <a:off x="294296" y="4237379"/>
            <a:ext cx="17724523" cy="1515810"/>
            <a:chOff x="0" y="0"/>
            <a:chExt cx="4668187" cy="399226"/>
          </a:xfrm>
        </p:grpSpPr>
        <p:sp>
          <p:nvSpPr>
            <p:cNvPr id="22" name="Freeform 22"/>
            <p:cNvSpPr/>
            <p:nvPr/>
          </p:nvSpPr>
          <p:spPr>
            <a:xfrm>
              <a:off x="0" y="0"/>
              <a:ext cx="4668187" cy="399226"/>
            </a:xfrm>
            <a:custGeom>
              <a:avLst/>
              <a:gdLst/>
              <a:ahLst/>
              <a:cxnLst/>
              <a:rect l="l" t="t" r="r" b="b"/>
              <a:pathLst>
                <a:path w="4668187" h="399226">
                  <a:moveTo>
                    <a:pt x="7425" y="0"/>
                  </a:moveTo>
                  <a:lnTo>
                    <a:pt x="4660762" y="0"/>
                  </a:lnTo>
                  <a:cubicBezTo>
                    <a:pt x="4664863" y="0"/>
                    <a:pt x="4668187" y="3324"/>
                    <a:pt x="4668187" y="7425"/>
                  </a:cubicBezTo>
                  <a:lnTo>
                    <a:pt x="4668187" y="391800"/>
                  </a:lnTo>
                  <a:cubicBezTo>
                    <a:pt x="4668187" y="393770"/>
                    <a:pt x="4667405" y="395658"/>
                    <a:pt x="4666012" y="397051"/>
                  </a:cubicBezTo>
                  <a:cubicBezTo>
                    <a:pt x="4664620" y="398443"/>
                    <a:pt x="4662731" y="399226"/>
                    <a:pt x="4660762" y="399226"/>
                  </a:cubicBezTo>
                  <a:lnTo>
                    <a:pt x="7425" y="399226"/>
                  </a:lnTo>
                  <a:cubicBezTo>
                    <a:pt x="3324" y="399226"/>
                    <a:pt x="0" y="395901"/>
                    <a:pt x="0" y="391800"/>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23" name="TextBox 23"/>
            <p:cNvSpPr txBox="1"/>
            <p:nvPr/>
          </p:nvSpPr>
          <p:spPr>
            <a:xfrm>
              <a:off x="0" y="-38100"/>
              <a:ext cx="4668187" cy="437326"/>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27557" y="4082486"/>
            <a:ext cx="1881143" cy="844431"/>
            <a:chOff x="0" y="0"/>
            <a:chExt cx="905339" cy="406400"/>
          </a:xfrm>
        </p:grpSpPr>
        <p:sp>
          <p:nvSpPr>
            <p:cNvPr id="25" name="Freeform 25"/>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6" name="TextBox 26"/>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7" name="Group 27"/>
          <p:cNvGrpSpPr/>
          <p:nvPr/>
        </p:nvGrpSpPr>
        <p:grpSpPr>
          <a:xfrm>
            <a:off x="427557" y="6929961"/>
            <a:ext cx="1881143" cy="844431"/>
            <a:chOff x="0" y="0"/>
            <a:chExt cx="905339" cy="406400"/>
          </a:xfrm>
        </p:grpSpPr>
        <p:sp>
          <p:nvSpPr>
            <p:cNvPr id="28" name="Freeform 28"/>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9" name="TextBox 29"/>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Nam</a:t>
              </a:r>
            </a:p>
          </p:txBody>
        </p:sp>
      </p:grpSp>
      <p:grpSp>
        <p:nvGrpSpPr>
          <p:cNvPr id="30" name="Group 30"/>
          <p:cNvGrpSpPr/>
          <p:nvPr/>
        </p:nvGrpSpPr>
        <p:grpSpPr>
          <a:xfrm>
            <a:off x="427557" y="8555269"/>
            <a:ext cx="1881143" cy="844431"/>
            <a:chOff x="0" y="0"/>
            <a:chExt cx="905339" cy="406400"/>
          </a:xfrm>
        </p:grpSpPr>
        <p:sp>
          <p:nvSpPr>
            <p:cNvPr id="31" name="Freeform 31"/>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2" name="TextBox 32"/>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Nữ</a:t>
              </a:r>
            </a:p>
          </p:txBody>
        </p:sp>
      </p:grpSp>
      <p:sp>
        <p:nvSpPr>
          <p:cNvPr id="33" name="TextBox 33"/>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34" name="TextBox 34"/>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35" name="TextBox 35"/>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36" name="TextBox 36"/>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7" name="TextBox 37"/>
          <p:cNvSpPr txBox="1"/>
          <p:nvPr/>
        </p:nvSpPr>
        <p:spPr>
          <a:xfrm>
            <a:off x="484707" y="5022168"/>
            <a:ext cx="17357112" cy="497841"/>
          </a:xfrm>
          <a:prstGeom prst="rect">
            <a:avLst/>
          </a:prstGeom>
        </p:spPr>
        <p:txBody>
          <a:bodyPr lIns="0" tIns="0" rIns="0" bIns="0" rtlCol="0" anchor="t">
            <a:spAutoFit/>
          </a:bodyPr>
          <a:lstStyle/>
          <a:p>
            <a:pPr algn="just">
              <a:lnSpc>
                <a:spcPts val="4059"/>
              </a:lnSpc>
              <a:spcBef>
                <a:spcPct val="0"/>
              </a:spcBef>
            </a:pPr>
            <a:r>
              <a:rPr lang="en-US" sz="2899" i="1">
                <a:solidFill>
                  <a:srgbClr val="000000"/>
                </a:solidFill>
                <a:latin typeface="Inter Italics"/>
                <a:ea typeface="Inter Italics"/>
                <a:cs typeface="Inter Italics"/>
                <a:sym typeface="Inter Italics"/>
              </a:rPr>
              <a:t>Lượng năng lượng tối thiểu cơ thể cần để duy trì các hoạt động sống cơ bản khi nghỉ ngơi hoàn toàn.</a:t>
            </a:r>
          </a:p>
        </p:txBody>
      </p:sp>
      <p:sp>
        <p:nvSpPr>
          <p:cNvPr id="38" name="TextBox 38"/>
          <p:cNvSpPr txBox="1"/>
          <p:nvPr/>
        </p:nvSpPr>
        <p:spPr>
          <a:xfrm>
            <a:off x="0" y="5868875"/>
            <a:ext cx="6636093" cy="622936"/>
          </a:xfrm>
          <a:prstGeom prst="rect">
            <a:avLst/>
          </a:prstGeom>
        </p:spPr>
        <p:txBody>
          <a:bodyPr lIns="0" tIns="0" rIns="0" bIns="0" rtlCol="0" anchor="t">
            <a:spAutoFit/>
          </a:bodyPr>
          <a:lstStyle/>
          <a:p>
            <a:pPr algn="ctr">
              <a:lnSpc>
                <a:spcPts val="5039"/>
              </a:lnSpc>
              <a:spcBef>
                <a:spcPct val="0"/>
              </a:spcBef>
            </a:pPr>
            <a:r>
              <a:rPr lang="en-US" sz="3599" b="1">
                <a:solidFill>
                  <a:srgbClr val="1800AD"/>
                </a:solidFill>
                <a:latin typeface="Inter Bold"/>
                <a:ea typeface="Inter Bold"/>
                <a:cs typeface="Inter Bold"/>
                <a:sym typeface="Inter Bold"/>
              </a:rPr>
              <a:t>Công thức:</a:t>
            </a:r>
            <a:r>
              <a:rPr lang="en-US" sz="3599">
                <a:solidFill>
                  <a:srgbClr val="000000"/>
                </a:solidFill>
                <a:latin typeface="Inter"/>
                <a:ea typeface="Inter"/>
                <a:cs typeface="Inter"/>
                <a:sym typeface="Inter"/>
              </a:rPr>
              <a:t> chia làm 2 phần</a:t>
            </a:r>
          </a:p>
        </p:txBody>
      </p:sp>
      <p:grpSp>
        <p:nvGrpSpPr>
          <p:cNvPr id="39" name="Group 39"/>
          <p:cNvGrpSpPr/>
          <p:nvPr/>
        </p:nvGrpSpPr>
        <p:grpSpPr>
          <a:xfrm>
            <a:off x="2586516" y="6577536"/>
            <a:ext cx="15432303" cy="1515810"/>
            <a:chOff x="0" y="0"/>
            <a:chExt cx="4064475" cy="399226"/>
          </a:xfrm>
        </p:grpSpPr>
        <p:sp>
          <p:nvSpPr>
            <p:cNvPr id="40" name="Freeform 40"/>
            <p:cNvSpPr/>
            <p:nvPr/>
          </p:nvSpPr>
          <p:spPr>
            <a:xfrm>
              <a:off x="0" y="0"/>
              <a:ext cx="4064475" cy="399226"/>
            </a:xfrm>
            <a:custGeom>
              <a:avLst/>
              <a:gdLst/>
              <a:ahLst/>
              <a:cxnLst/>
              <a:rect l="l" t="t" r="r" b="b"/>
              <a:pathLst>
                <a:path w="4064475" h="399226">
                  <a:moveTo>
                    <a:pt x="8528" y="0"/>
                  </a:moveTo>
                  <a:lnTo>
                    <a:pt x="4055946" y="0"/>
                  </a:lnTo>
                  <a:cubicBezTo>
                    <a:pt x="4060656" y="0"/>
                    <a:pt x="4064475" y="3818"/>
                    <a:pt x="4064475" y="8528"/>
                  </a:cubicBezTo>
                  <a:lnTo>
                    <a:pt x="4064475" y="390697"/>
                  </a:lnTo>
                  <a:cubicBezTo>
                    <a:pt x="4064475" y="392959"/>
                    <a:pt x="4063576" y="395128"/>
                    <a:pt x="4061977" y="396728"/>
                  </a:cubicBezTo>
                  <a:cubicBezTo>
                    <a:pt x="4060377" y="398327"/>
                    <a:pt x="4058208" y="399226"/>
                    <a:pt x="4055946" y="399226"/>
                  </a:cubicBezTo>
                  <a:lnTo>
                    <a:pt x="8528" y="399226"/>
                  </a:lnTo>
                  <a:cubicBezTo>
                    <a:pt x="6267" y="399226"/>
                    <a:pt x="4097" y="398327"/>
                    <a:pt x="2498" y="396728"/>
                  </a:cubicBezTo>
                  <a:cubicBezTo>
                    <a:pt x="899" y="395128"/>
                    <a:pt x="0" y="392959"/>
                    <a:pt x="0" y="390697"/>
                  </a:cubicBezTo>
                  <a:lnTo>
                    <a:pt x="0" y="8528"/>
                  </a:lnTo>
                  <a:cubicBezTo>
                    <a:pt x="0" y="6267"/>
                    <a:pt x="899" y="4097"/>
                    <a:pt x="2498" y="2498"/>
                  </a:cubicBezTo>
                  <a:cubicBezTo>
                    <a:pt x="4097" y="899"/>
                    <a:pt x="6267" y="0"/>
                    <a:pt x="8528" y="0"/>
                  </a:cubicBezTo>
                  <a:close/>
                </a:path>
              </a:pathLst>
            </a:custGeom>
            <a:solidFill>
              <a:srgbClr val="FFFFFF"/>
            </a:solidFill>
            <a:ln w="9525" cap="sq">
              <a:solidFill>
                <a:srgbClr val="5170FF"/>
              </a:solidFill>
              <a:prstDash val="solid"/>
              <a:miter/>
            </a:ln>
          </p:spPr>
        </p:sp>
        <p:sp>
          <p:nvSpPr>
            <p:cNvPr id="41" name="TextBox 41"/>
            <p:cNvSpPr txBox="1"/>
            <p:nvPr/>
          </p:nvSpPr>
          <p:spPr>
            <a:xfrm>
              <a:off x="0" y="-38100"/>
              <a:ext cx="4064475" cy="437326"/>
            </a:xfrm>
            <a:prstGeom prst="rect">
              <a:avLst/>
            </a:prstGeom>
          </p:spPr>
          <p:txBody>
            <a:bodyPr lIns="50800" tIns="50800" rIns="50800" bIns="50800" rtlCol="0" anchor="ctr"/>
            <a:lstStyle/>
            <a:p>
              <a:pPr algn="ctr">
                <a:lnSpc>
                  <a:spcPts val="2659"/>
                </a:lnSpc>
              </a:pPr>
              <a:endParaRPr/>
            </a:p>
          </p:txBody>
        </p:sp>
      </p:grpSp>
      <p:sp>
        <p:nvSpPr>
          <p:cNvPr id="42" name="Freeform 42"/>
          <p:cNvSpPr/>
          <p:nvPr/>
        </p:nvSpPr>
        <p:spPr>
          <a:xfrm>
            <a:off x="2842890" y="6851357"/>
            <a:ext cx="14919555" cy="938874"/>
          </a:xfrm>
          <a:custGeom>
            <a:avLst/>
            <a:gdLst/>
            <a:ahLst/>
            <a:cxnLst/>
            <a:rect l="l" t="t" r="r" b="b"/>
            <a:pathLst>
              <a:path w="14919555" h="938874">
                <a:moveTo>
                  <a:pt x="0" y="0"/>
                </a:moveTo>
                <a:lnTo>
                  <a:pt x="14919555" y="0"/>
                </a:lnTo>
                <a:lnTo>
                  <a:pt x="14919555" y="938874"/>
                </a:lnTo>
                <a:lnTo>
                  <a:pt x="0" y="938874"/>
                </a:lnTo>
                <a:lnTo>
                  <a:pt x="0" y="0"/>
                </a:lnTo>
                <a:close/>
              </a:path>
            </a:pathLst>
          </a:custGeom>
          <a:blipFill>
            <a:blip r:embed="rId2"/>
            <a:stretch>
              <a:fillRect/>
            </a:stretch>
          </a:blipFill>
        </p:spPr>
      </p:sp>
      <p:grpSp>
        <p:nvGrpSpPr>
          <p:cNvPr id="43" name="Group 43"/>
          <p:cNvGrpSpPr/>
          <p:nvPr/>
        </p:nvGrpSpPr>
        <p:grpSpPr>
          <a:xfrm>
            <a:off x="2605566" y="8302896"/>
            <a:ext cx="15432303" cy="1262800"/>
            <a:chOff x="0" y="0"/>
            <a:chExt cx="4064475" cy="332589"/>
          </a:xfrm>
        </p:grpSpPr>
        <p:sp>
          <p:nvSpPr>
            <p:cNvPr id="44" name="Freeform 44"/>
            <p:cNvSpPr/>
            <p:nvPr/>
          </p:nvSpPr>
          <p:spPr>
            <a:xfrm>
              <a:off x="0" y="0"/>
              <a:ext cx="4064475" cy="332589"/>
            </a:xfrm>
            <a:custGeom>
              <a:avLst/>
              <a:gdLst/>
              <a:ahLst/>
              <a:cxnLst/>
              <a:rect l="l" t="t" r="r" b="b"/>
              <a:pathLst>
                <a:path w="4064475" h="332589">
                  <a:moveTo>
                    <a:pt x="8528" y="0"/>
                  </a:moveTo>
                  <a:lnTo>
                    <a:pt x="4055946" y="0"/>
                  </a:lnTo>
                  <a:cubicBezTo>
                    <a:pt x="4060656" y="0"/>
                    <a:pt x="4064475" y="3818"/>
                    <a:pt x="4064475" y="8528"/>
                  </a:cubicBezTo>
                  <a:lnTo>
                    <a:pt x="4064475" y="324061"/>
                  </a:lnTo>
                  <a:cubicBezTo>
                    <a:pt x="4064475" y="326323"/>
                    <a:pt x="4063576" y="328492"/>
                    <a:pt x="4061977" y="330092"/>
                  </a:cubicBezTo>
                  <a:cubicBezTo>
                    <a:pt x="4060377" y="331691"/>
                    <a:pt x="4058208" y="332589"/>
                    <a:pt x="4055946" y="332589"/>
                  </a:cubicBezTo>
                  <a:lnTo>
                    <a:pt x="8528" y="332589"/>
                  </a:lnTo>
                  <a:cubicBezTo>
                    <a:pt x="6267" y="332589"/>
                    <a:pt x="4097" y="331691"/>
                    <a:pt x="2498" y="330092"/>
                  </a:cubicBezTo>
                  <a:cubicBezTo>
                    <a:pt x="899" y="328492"/>
                    <a:pt x="0" y="326323"/>
                    <a:pt x="0" y="324061"/>
                  </a:cubicBezTo>
                  <a:lnTo>
                    <a:pt x="0" y="8528"/>
                  </a:lnTo>
                  <a:cubicBezTo>
                    <a:pt x="0" y="6267"/>
                    <a:pt x="899" y="4097"/>
                    <a:pt x="2498" y="2498"/>
                  </a:cubicBezTo>
                  <a:cubicBezTo>
                    <a:pt x="4097" y="899"/>
                    <a:pt x="6267" y="0"/>
                    <a:pt x="8528" y="0"/>
                  </a:cubicBezTo>
                  <a:close/>
                </a:path>
              </a:pathLst>
            </a:custGeom>
            <a:solidFill>
              <a:srgbClr val="FFFFFF"/>
            </a:solidFill>
            <a:ln w="9525" cap="sq">
              <a:solidFill>
                <a:srgbClr val="5170FF"/>
              </a:solidFill>
              <a:prstDash val="solid"/>
              <a:miter/>
            </a:ln>
          </p:spPr>
        </p:sp>
        <p:sp>
          <p:nvSpPr>
            <p:cNvPr id="45" name="TextBox 45"/>
            <p:cNvSpPr txBox="1"/>
            <p:nvPr/>
          </p:nvSpPr>
          <p:spPr>
            <a:xfrm>
              <a:off x="0" y="-38100"/>
              <a:ext cx="4064475" cy="370689"/>
            </a:xfrm>
            <a:prstGeom prst="rect">
              <a:avLst/>
            </a:prstGeom>
          </p:spPr>
          <p:txBody>
            <a:bodyPr lIns="50800" tIns="50800" rIns="50800" bIns="50800" rtlCol="0" anchor="ctr"/>
            <a:lstStyle/>
            <a:p>
              <a:pPr algn="ctr">
                <a:lnSpc>
                  <a:spcPts val="2659"/>
                </a:lnSpc>
              </a:pPr>
              <a:endParaRPr/>
            </a:p>
          </p:txBody>
        </p:sp>
      </p:grpSp>
      <p:sp>
        <p:nvSpPr>
          <p:cNvPr id="46" name="Freeform 46"/>
          <p:cNvSpPr/>
          <p:nvPr/>
        </p:nvSpPr>
        <p:spPr>
          <a:xfrm>
            <a:off x="3036861" y="8686384"/>
            <a:ext cx="14569712" cy="748834"/>
          </a:xfrm>
          <a:custGeom>
            <a:avLst/>
            <a:gdLst/>
            <a:ahLst/>
            <a:cxnLst/>
            <a:rect l="l" t="t" r="r" b="b"/>
            <a:pathLst>
              <a:path w="14569712" h="748834">
                <a:moveTo>
                  <a:pt x="0" y="0"/>
                </a:moveTo>
                <a:lnTo>
                  <a:pt x="14569712" y="0"/>
                </a:lnTo>
                <a:lnTo>
                  <a:pt x="14569712" y="748835"/>
                </a:lnTo>
                <a:lnTo>
                  <a:pt x="0" y="748835"/>
                </a:lnTo>
                <a:lnTo>
                  <a:pt x="0" y="0"/>
                </a:lnTo>
                <a:close/>
              </a:path>
            </a:pathLst>
          </a:custGeom>
          <a:blipFill>
            <a:blip r:embed="rId3"/>
            <a:stretch>
              <a:fillRect/>
            </a:stretch>
          </a:blipFill>
        </p:spPr>
      </p:sp>
      <p:sp>
        <p:nvSpPr>
          <p:cNvPr id="47" name="TextBox 47"/>
          <p:cNvSpPr txBox="1"/>
          <p:nvPr/>
        </p:nvSpPr>
        <p:spPr>
          <a:xfrm>
            <a:off x="17628981" y="9584747"/>
            <a:ext cx="240308"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46735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46735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45801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46735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643908"/>
            <a:ext cx="18250078" cy="1099203"/>
            <a:chOff x="0" y="0"/>
            <a:chExt cx="4806605" cy="289502"/>
          </a:xfrm>
        </p:grpSpPr>
        <p:sp>
          <p:nvSpPr>
            <p:cNvPr id="16" name="Freeform 16"/>
            <p:cNvSpPr/>
            <p:nvPr/>
          </p:nvSpPr>
          <p:spPr>
            <a:xfrm>
              <a:off x="0" y="0"/>
              <a:ext cx="4806605" cy="289502"/>
            </a:xfrm>
            <a:custGeom>
              <a:avLst/>
              <a:gdLst/>
              <a:ahLst/>
              <a:cxnLst/>
              <a:rect l="l" t="t" r="r" b="b"/>
              <a:pathLst>
                <a:path w="4806605" h="289502">
                  <a:moveTo>
                    <a:pt x="0" y="0"/>
                  </a:moveTo>
                  <a:lnTo>
                    <a:pt x="4806605" y="0"/>
                  </a:lnTo>
                  <a:lnTo>
                    <a:pt x="4806605" y="289502"/>
                  </a:lnTo>
                  <a:lnTo>
                    <a:pt x="0" y="289502"/>
                  </a:lnTo>
                  <a:close/>
                </a:path>
              </a:pathLst>
            </a:custGeom>
            <a:solidFill>
              <a:srgbClr val="1800AD"/>
            </a:solidFill>
          </p:spPr>
        </p:sp>
        <p:sp>
          <p:nvSpPr>
            <p:cNvPr id="17" name="TextBox 17"/>
            <p:cNvSpPr txBox="1"/>
            <p:nvPr/>
          </p:nvSpPr>
          <p:spPr>
            <a:xfrm>
              <a:off x="0" y="17693"/>
              <a:ext cx="4806605" cy="271809"/>
            </a:xfrm>
            <a:prstGeom prst="rect">
              <a:avLst/>
            </a:prstGeom>
          </p:spPr>
          <p:txBody>
            <a:bodyPr lIns="50800" tIns="50800" rIns="50800" bIns="50800" rtlCol="0" anchor="ctr"/>
            <a:lstStyle/>
            <a:p>
              <a:pPr algn="ctr">
                <a:lnSpc>
                  <a:spcPts val="6439"/>
                </a:lnSpc>
              </a:pPr>
              <a:r>
                <a:rPr lang="en-US" sz="4599" b="1">
                  <a:solidFill>
                    <a:srgbClr val="FFFFFF"/>
                  </a:solidFill>
                  <a:latin typeface="Inter Bold"/>
                  <a:ea typeface="Inter Bold"/>
                  <a:cs typeface="Inter Bold"/>
                  <a:sym typeface="Inter Bold"/>
                </a:rPr>
                <a:t>CÁC CHỈ SỐ ĐÁNH GIÁ CƠ THỂ</a:t>
              </a:r>
            </a:p>
          </p:txBody>
        </p:sp>
      </p:grpSp>
      <p:grpSp>
        <p:nvGrpSpPr>
          <p:cNvPr id="18" name="Group 18"/>
          <p:cNvGrpSpPr/>
          <p:nvPr/>
        </p:nvGrpSpPr>
        <p:grpSpPr>
          <a:xfrm>
            <a:off x="7966283" y="2847619"/>
            <a:ext cx="2355435" cy="1177717"/>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D59"/>
            </a:solidFill>
          </p:spPr>
        </p:sp>
        <p:sp>
          <p:nvSpPr>
            <p:cNvPr id="20" name="TextBox 20"/>
            <p:cNvSpPr txBox="1"/>
            <p:nvPr/>
          </p:nvSpPr>
          <p:spPr>
            <a:xfrm>
              <a:off x="0" y="-95250"/>
              <a:ext cx="812800" cy="501650"/>
            </a:xfrm>
            <a:prstGeom prst="rect">
              <a:avLst/>
            </a:prstGeom>
          </p:spPr>
          <p:txBody>
            <a:bodyPr lIns="50800" tIns="50800" rIns="50800" bIns="50800" rtlCol="0" anchor="ctr"/>
            <a:lstStyle/>
            <a:p>
              <a:pPr algn="ctr">
                <a:lnSpc>
                  <a:spcPts val="7279"/>
                </a:lnSpc>
              </a:pPr>
              <a:r>
                <a:rPr lang="en-US" sz="5199" b="1">
                  <a:solidFill>
                    <a:srgbClr val="FFFFFF"/>
                  </a:solidFill>
                  <a:latin typeface="Inter Bold"/>
                  <a:ea typeface="Inter Bold"/>
                  <a:cs typeface="Inter Bold"/>
                  <a:sym typeface="Inter Bold"/>
                </a:rPr>
                <a:t>TDEE</a:t>
              </a:r>
            </a:p>
          </p:txBody>
        </p:sp>
      </p:grpSp>
      <p:grpSp>
        <p:nvGrpSpPr>
          <p:cNvPr id="21" name="Group 21"/>
          <p:cNvGrpSpPr/>
          <p:nvPr/>
        </p:nvGrpSpPr>
        <p:grpSpPr>
          <a:xfrm>
            <a:off x="294296" y="4237379"/>
            <a:ext cx="8405857" cy="2381072"/>
            <a:chOff x="0" y="0"/>
            <a:chExt cx="2213888" cy="627114"/>
          </a:xfrm>
        </p:grpSpPr>
        <p:sp>
          <p:nvSpPr>
            <p:cNvPr id="22" name="Freeform 22"/>
            <p:cNvSpPr/>
            <p:nvPr/>
          </p:nvSpPr>
          <p:spPr>
            <a:xfrm>
              <a:off x="0" y="0"/>
              <a:ext cx="2213888" cy="627114"/>
            </a:xfrm>
            <a:custGeom>
              <a:avLst/>
              <a:gdLst/>
              <a:ahLst/>
              <a:cxnLst/>
              <a:rect l="l" t="t" r="r" b="b"/>
              <a:pathLst>
                <a:path w="2213888" h="627114">
                  <a:moveTo>
                    <a:pt x="15657" y="0"/>
                  </a:moveTo>
                  <a:lnTo>
                    <a:pt x="2198231" y="0"/>
                  </a:lnTo>
                  <a:cubicBezTo>
                    <a:pt x="2206878" y="0"/>
                    <a:pt x="2213888" y="7010"/>
                    <a:pt x="2213888" y="15657"/>
                  </a:cubicBezTo>
                  <a:lnTo>
                    <a:pt x="2213888" y="611456"/>
                  </a:lnTo>
                  <a:cubicBezTo>
                    <a:pt x="2213888" y="615609"/>
                    <a:pt x="2212239" y="619591"/>
                    <a:pt x="2209302" y="622528"/>
                  </a:cubicBezTo>
                  <a:cubicBezTo>
                    <a:pt x="2206366" y="625464"/>
                    <a:pt x="2202383" y="627114"/>
                    <a:pt x="2198231" y="627114"/>
                  </a:cubicBezTo>
                  <a:lnTo>
                    <a:pt x="15657" y="627114"/>
                  </a:lnTo>
                  <a:cubicBezTo>
                    <a:pt x="7010" y="627114"/>
                    <a:pt x="0" y="620104"/>
                    <a:pt x="0" y="611456"/>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3" name="TextBox 23"/>
            <p:cNvSpPr txBox="1"/>
            <p:nvPr/>
          </p:nvSpPr>
          <p:spPr>
            <a:xfrm>
              <a:off x="0" y="-38100"/>
              <a:ext cx="2213888" cy="665214"/>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27557" y="4082486"/>
            <a:ext cx="1881143" cy="844431"/>
            <a:chOff x="0" y="0"/>
            <a:chExt cx="905339" cy="406400"/>
          </a:xfrm>
        </p:grpSpPr>
        <p:sp>
          <p:nvSpPr>
            <p:cNvPr id="25" name="Freeform 25"/>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6" name="TextBox 26"/>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7" name="Group 27"/>
          <p:cNvGrpSpPr/>
          <p:nvPr/>
        </p:nvGrpSpPr>
        <p:grpSpPr>
          <a:xfrm>
            <a:off x="294296" y="7240068"/>
            <a:ext cx="8405857" cy="2018232"/>
            <a:chOff x="0" y="0"/>
            <a:chExt cx="2213888" cy="531551"/>
          </a:xfrm>
        </p:grpSpPr>
        <p:sp>
          <p:nvSpPr>
            <p:cNvPr id="28" name="Freeform 28"/>
            <p:cNvSpPr/>
            <p:nvPr/>
          </p:nvSpPr>
          <p:spPr>
            <a:xfrm>
              <a:off x="0" y="0"/>
              <a:ext cx="2213888" cy="531551"/>
            </a:xfrm>
            <a:custGeom>
              <a:avLst/>
              <a:gdLst/>
              <a:ahLst/>
              <a:cxnLst/>
              <a:rect l="l" t="t" r="r" b="b"/>
              <a:pathLst>
                <a:path w="2213888" h="531551">
                  <a:moveTo>
                    <a:pt x="15657" y="0"/>
                  </a:moveTo>
                  <a:lnTo>
                    <a:pt x="2198231" y="0"/>
                  </a:lnTo>
                  <a:cubicBezTo>
                    <a:pt x="2206878" y="0"/>
                    <a:pt x="2213888" y="7010"/>
                    <a:pt x="2213888" y="15657"/>
                  </a:cubicBezTo>
                  <a:lnTo>
                    <a:pt x="2213888" y="515893"/>
                  </a:lnTo>
                  <a:cubicBezTo>
                    <a:pt x="2213888" y="520046"/>
                    <a:pt x="2212239" y="524028"/>
                    <a:pt x="2209302" y="526965"/>
                  </a:cubicBezTo>
                  <a:cubicBezTo>
                    <a:pt x="2206366" y="529901"/>
                    <a:pt x="2202383" y="531551"/>
                    <a:pt x="2198231" y="531551"/>
                  </a:cubicBezTo>
                  <a:lnTo>
                    <a:pt x="15657" y="531551"/>
                  </a:lnTo>
                  <a:cubicBezTo>
                    <a:pt x="7010" y="531551"/>
                    <a:pt x="0" y="524541"/>
                    <a:pt x="0" y="515893"/>
                  </a:cubicBezTo>
                  <a:lnTo>
                    <a:pt x="0" y="15657"/>
                  </a:lnTo>
                  <a:cubicBezTo>
                    <a:pt x="0" y="7010"/>
                    <a:pt x="7010" y="0"/>
                    <a:pt x="15657" y="0"/>
                  </a:cubicBezTo>
                  <a:close/>
                </a:path>
              </a:pathLst>
            </a:custGeom>
            <a:solidFill>
              <a:srgbClr val="FFFFFF"/>
            </a:solidFill>
            <a:ln w="9525" cap="sq">
              <a:solidFill>
                <a:srgbClr val="5170FF"/>
              </a:solidFill>
              <a:prstDash val="solid"/>
              <a:miter/>
            </a:ln>
          </p:spPr>
        </p:sp>
        <p:sp>
          <p:nvSpPr>
            <p:cNvPr id="29" name="TextBox 29"/>
            <p:cNvSpPr txBox="1"/>
            <p:nvPr/>
          </p:nvSpPr>
          <p:spPr>
            <a:xfrm>
              <a:off x="0" y="-38100"/>
              <a:ext cx="2213888" cy="569651"/>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427557" y="7085176"/>
            <a:ext cx="2222174" cy="844431"/>
            <a:chOff x="0" y="0"/>
            <a:chExt cx="1069467" cy="406400"/>
          </a:xfrm>
        </p:grpSpPr>
        <p:sp>
          <p:nvSpPr>
            <p:cNvPr id="31" name="Freeform 31"/>
            <p:cNvSpPr/>
            <p:nvPr/>
          </p:nvSpPr>
          <p:spPr>
            <a:xfrm>
              <a:off x="0" y="0"/>
              <a:ext cx="1069467" cy="406400"/>
            </a:xfrm>
            <a:custGeom>
              <a:avLst/>
              <a:gdLst/>
              <a:ahLst/>
              <a:cxnLst/>
              <a:rect l="l" t="t" r="r" b="b"/>
              <a:pathLst>
                <a:path w="1069467" h="406400">
                  <a:moveTo>
                    <a:pt x="866267" y="0"/>
                  </a:moveTo>
                  <a:cubicBezTo>
                    <a:pt x="978491" y="0"/>
                    <a:pt x="1069467" y="90976"/>
                    <a:pt x="1069467" y="203200"/>
                  </a:cubicBezTo>
                  <a:cubicBezTo>
                    <a:pt x="1069467" y="315424"/>
                    <a:pt x="978491" y="406400"/>
                    <a:pt x="866267"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32" name="TextBox 32"/>
            <p:cNvSpPr txBox="1"/>
            <p:nvPr/>
          </p:nvSpPr>
          <p:spPr>
            <a:xfrm>
              <a:off x="0" y="-47625"/>
              <a:ext cx="1069467"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Công thức</a:t>
              </a:r>
            </a:p>
          </p:txBody>
        </p:sp>
      </p:grpSp>
      <p:graphicFrame>
        <p:nvGraphicFramePr>
          <p:cNvPr id="33" name="Object 33"/>
          <p:cNvGraphicFramePr/>
          <p:nvPr/>
        </p:nvGraphicFramePr>
        <p:xfrm>
          <a:off x="9125039" y="4237379"/>
          <a:ext cx="7586157" cy="4274588"/>
        </p:xfrm>
        <a:graphic>
          <a:graphicData uri="http://schemas.openxmlformats.org/presentationml/2006/ole">
            <mc:AlternateContent xmlns:mc="http://schemas.openxmlformats.org/markup-compatibility/2006">
              <mc:Choice xmlns:v="urn:schemas-microsoft-com:vml" Requires="v">
                <p:oleObj name="Worksheet" r:id="rId2" imgW="9105900" imgH="5791200" progId="Excel.Sheet.12">
                  <p:embed/>
                </p:oleObj>
              </mc:Choice>
              <mc:Fallback>
                <p:oleObj name="Worksheet" r:id="rId2" imgW="9105900" imgH="5791200" progId="Excel.Sheet.12">
                  <p:embed/>
                  <p:pic>
                    <p:nvPicPr>
                      <p:cNvPr id="0" name=""/>
                      <p:cNvPicPr/>
                      <p:nvPr/>
                    </p:nvPicPr>
                    <p:blipFill>
                      <a:blip r:embed="rId3"/>
                      <a:stretch>
                        <a:fillRect/>
                      </a:stretch>
                    </p:blipFill>
                    <p:spPr>
                      <a:xfrm>
                        <a:off x="9125039" y="4237379"/>
                        <a:ext cx="7586157" cy="4274588"/>
                      </a:xfrm>
                      <a:prstGeom prst="rect">
                        <a:avLst/>
                      </a:prstGeom>
                    </p:spPr>
                  </p:pic>
                </p:oleObj>
              </mc:Fallback>
            </mc:AlternateContent>
          </a:graphicData>
        </a:graphic>
      </p:graphicFrame>
      <p:sp>
        <p:nvSpPr>
          <p:cNvPr id="34" name="TextBox 34"/>
          <p:cNvSpPr txBox="1"/>
          <p:nvPr/>
        </p:nvSpPr>
        <p:spPr>
          <a:xfrm>
            <a:off x="6680223" y="60457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35" name="TextBox 35"/>
          <p:cNvSpPr txBox="1"/>
          <p:nvPr/>
        </p:nvSpPr>
        <p:spPr>
          <a:xfrm>
            <a:off x="9553592" y="61391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36" name="TextBox 36"/>
          <p:cNvSpPr txBox="1"/>
          <p:nvPr/>
        </p:nvSpPr>
        <p:spPr>
          <a:xfrm>
            <a:off x="12426961"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37" name="TextBox 37"/>
          <p:cNvSpPr txBox="1"/>
          <p:nvPr/>
        </p:nvSpPr>
        <p:spPr>
          <a:xfrm>
            <a:off x="15290806" y="62325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38" name="TextBox 38"/>
          <p:cNvSpPr txBox="1"/>
          <p:nvPr/>
        </p:nvSpPr>
        <p:spPr>
          <a:xfrm>
            <a:off x="484707" y="5022168"/>
            <a:ext cx="7989249" cy="1471931"/>
          </a:xfrm>
          <a:prstGeom prst="rect">
            <a:avLst/>
          </a:prstGeom>
        </p:spPr>
        <p:txBody>
          <a:bodyPr lIns="0" tIns="0" rIns="0" bIns="0" rtlCol="0" anchor="t">
            <a:spAutoFit/>
          </a:bodyPr>
          <a:lstStyle/>
          <a:p>
            <a:pPr algn="just">
              <a:lnSpc>
                <a:spcPts val="3919"/>
              </a:lnSpc>
              <a:spcBef>
                <a:spcPct val="0"/>
              </a:spcBef>
            </a:pPr>
            <a:r>
              <a:rPr lang="en-US" sz="2799" i="1">
                <a:solidFill>
                  <a:srgbClr val="000000"/>
                </a:solidFill>
                <a:latin typeface="Inter Italics"/>
                <a:ea typeface="Inter Italics"/>
                <a:cs typeface="Inter Italics"/>
                <a:sym typeface="Inter Italics"/>
              </a:rPr>
              <a:t>Tổng năng lượng cơ thể tiêu hao trong một ngày, bao gồm BMR và các hoạt động hằng ngày.</a:t>
            </a:r>
          </a:p>
        </p:txBody>
      </p:sp>
      <p:sp>
        <p:nvSpPr>
          <p:cNvPr id="39" name="TextBox 39"/>
          <p:cNvSpPr txBox="1"/>
          <p:nvPr/>
        </p:nvSpPr>
        <p:spPr>
          <a:xfrm>
            <a:off x="484707" y="8194957"/>
            <a:ext cx="7989249" cy="662941"/>
          </a:xfrm>
          <a:prstGeom prst="rect">
            <a:avLst/>
          </a:prstGeom>
        </p:spPr>
        <p:txBody>
          <a:bodyPr lIns="0" tIns="0" rIns="0" bIns="0" rtlCol="0" anchor="t">
            <a:spAutoFit/>
          </a:bodyPr>
          <a:lstStyle/>
          <a:p>
            <a:pPr algn="ctr">
              <a:lnSpc>
                <a:spcPts val="5459"/>
              </a:lnSpc>
              <a:spcBef>
                <a:spcPct val="0"/>
              </a:spcBef>
            </a:pPr>
            <a:r>
              <a:rPr lang="en-US" sz="3899">
                <a:solidFill>
                  <a:srgbClr val="000000"/>
                </a:solidFill>
                <a:latin typeface="Inter"/>
                <a:ea typeface="Inter"/>
                <a:cs typeface="Inter"/>
                <a:sym typeface="Inter"/>
              </a:rPr>
              <a:t>TDEE = </a:t>
            </a:r>
            <a:r>
              <a:rPr lang="en-US" sz="3899" b="1">
                <a:solidFill>
                  <a:srgbClr val="000000"/>
                </a:solidFill>
                <a:latin typeface="Inter Bold"/>
                <a:ea typeface="Inter Bold"/>
                <a:cs typeface="Inter Bold"/>
                <a:sym typeface="Inter Bold"/>
              </a:rPr>
              <a:t>BMR × mức độ hoạt động</a:t>
            </a:r>
          </a:p>
        </p:txBody>
      </p:sp>
      <p:sp>
        <p:nvSpPr>
          <p:cNvPr id="40" name="TextBox 40"/>
          <p:cNvSpPr txBox="1"/>
          <p:nvPr/>
        </p:nvSpPr>
        <p:spPr>
          <a:xfrm>
            <a:off x="17628584" y="9508547"/>
            <a:ext cx="241102"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FFFFFF"/>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290297"/>
            <a:ext cx="18288000" cy="1014453"/>
            <a:chOff x="0" y="-13889"/>
            <a:chExt cx="4816593" cy="267181"/>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13889"/>
              <a:ext cx="4816593" cy="267181"/>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GAMIFICATION</a:t>
              </a:r>
            </a:p>
          </p:txBody>
        </p:sp>
      </p:grpSp>
      <p:grpSp>
        <p:nvGrpSpPr>
          <p:cNvPr id="18" name="Group 18"/>
          <p:cNvGrpSpPr/>
          <p:nvPr/>
        </p:nvGrpSpPr>
        <p:grpSpPr>
          <a:xfrm>
            <a:off x="294296" y="2793017"/>
            <a:ext cx="17724523" cy="2060605"/>
            <a:chOff x="0" y="0"/>
            <a:chExt cx="4668187" cy="542711"/>
          </a:xfrm>
        </p:grpSpPr>
        <p:sp>
          <p:nvSpPr>
            <p:cNvPr id="19" name="Freeform 19"/>
            <p:cNvSpPr/>
            <p:nvPr/>
          </p:nvSpPr>
          <p:spPr>
            <a:xfrm>
              <a:off x="0" y="0"/>
              <a:ext cx="4668187" cy="542711"/>
            </a:xfrm>
            <a:custGeom>
              <a:avLst/>
              <a:gdLst/>
              <a:ahLst/>
              <a:cxnLst/>
              <a:rect l="l" t="t" r="r" b="b"/>
              <a:pathLst>
                <a:path w="4668187" h="542711">
                  <a:moveTo>
                    <a:pt x="7425" y="0"/>
                  </a:moveTo>
                  <a:lnTo>
                    <a:pt x="4660762" y="0"/>
                  </a:lnTo>
                  <a:cubicBezTo>
                    <a:pt x="4664863" y="0"/>
                    <a:pt x="4668187" y="3324"/>
                    <a:pt x="4668187" y="7425"/>
                  </a:cubicBezTo>
                  <a:lnTo>
                    <a:pt x="4668187" y="535285"/>
                  </a:lnTo>
                  <a:cubicBezTo>
                    <a:pt x="4668187" y="539386"/>
                    <a:pt x="4664863" y="542711"/>
                    <a:pt x="4660762" y="542711"/>
                  </a:cubicBezTo>
                  <a:lnTo>
                    <a:pt x="7425" y="542711"/>
                  </a:lnTo>
                  <a:cubicBezTo>
                    <a:pt x="5456" y="542711"/>
                    <a:pt x="3567" y="541928"/>
                    <a:pt x="2175" y="540536"/>
                  </a:cubicBezTo>
                  <a:cubicBezTo>
                    <a:pt x="782" y="539143"/>
                    <a:pt x="0" y="537255"/>
                    <a:pt x="0" y="535285"/>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20" name="TextBox 20"/>
            <p:cNvSpPr txBox="1"/>
            <p:nvPr/>
          </p:nvSpPr>
          <p:spPr>
            <a:xfrm>
              <a:off x="0" y="-38100"/>
              <a:ext cx="4668187" cy="580811"/>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427557" y="2638124"/>
            <a:ext cx="1881143" cy="844431"/>
            <a:chOff x="0" y="0"/>
            <a:chExt cx="905339" cy="406400"/>
          </a:xfrm>
        </p:grpSpPr>
        <p:sp>
          <p:nvSpPr>
            <p:cNvPr id="22" name="Freeform 22"/>
            <p:cNvSpPr/>
            <p:nvPr/>
          </p:nvSpPr>
          <p:spPr>
            <a:xfrm>
              <a:off x="0" y="0"/>
              <a:ext cx="905339" cy="406400"/>
            </a:xfrm>
            <a:custGeom>
              <a:avLst/>
              <a:gdLst/>
              <a:ahLst/>
              <a:cxnLst/>
              <a:rect l="l" t="t" r="r" b="b"/>
              <a:pathLst>
                <a:path w="905339" h="406400">
                  <a:moveTo>
                    <a:pt x="702139" y="0"/>
                  </a:moveTo>
                  <a:cubicBezTo>
                    <a:pt x="814363" y="0"/>
                    <a:pt x="905339" y="90976"/>
                    <a:pt x="905339" y="203200"/>
                  </a:cubicBezTo>
                  <a:cubicBezTo>
                    <a:pt x="905339" y="315424"/>
                    <a:pt x="814363" y="406400"/>
                    <a:pt x="702139"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3" name="TextBox 23"/>
            <p:cNvSpPr txBox="1"/>
            <p:nvPr/>
          </p:nvSpPr>
          <p:spPr>
            <a:xfrm>
              <a:off x="0" y="-47625"/>
              <a:ext cx="905339"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Khái niệm</a:t>
              </a:r>
            </a:p>
          </p:txBody>
        </p:sp>
      </p:grpSp>
      <p:grpSp>
        <p:nvGrpSpPr>
          <p:cNvPr id="24" name="Group 24"/>
          <p:cNvGrpSpPr/>
          <p:nvPr/>
        </p:nvGrpSpPr>
        <p:grpSpPr>
          <a:xfrm>
            <a:off x="301002" y="5298393"/>
            <a:ext cx="17724523" cy="1740137"/>
            <a:chOff x="0" y="0"/>
            <a:chExt cx="4668187" cy="458308"/>
          </a:xfrm>
        </p:grpSpPr>
        <p:sp>
          <p:nvSpPr>
            <p:cNvPr id="25" name="Freeform 25"/>
            <p:cNvSpPr/>
            <p:nvPr/>
          </p:nvSpPr>
          <p:spPr>
            <a:xfrm>
              <a:off x="0" y="0"/>
              <a:ext cx="4668187" cy="458308"/>
            </a:xfrm>
            <a:custGeom>
              <a:avLst/>
              <a:gdLst/>
              <a:ahLst/>
              <a:cxnLst/>
              <a:rect l="l" t="t" r="r" b="b"/>
              <a:pathLst>
                <a:path w="4668187" h="458308">
                  <a:moveTo>
                    <a:pt x="7425" y="0"/>
                  </a:moveTo>
                  <a:lnTo>
                    <a:pt x="4660762" y="0"/>
                  </a:lnTo>
                  <a:cubicBezTo>
                    <a:pt x="4664863" y="0"/>
                    <a:pt x="4668187" y="3324"/>
                    <a:pt x="4668187" y="7425"/>
                  </a:cubicBezTo>
                  <a:lnTo>
                    <a:pt x="4668187" y="450882"/>
                  </a:lnTo>
                  <a:cubicBezTo>
                    <a:pt x="4668187" y="452852"/>
                    <a:pt x="4667405" y="454740"/>
                    <a:pt x="4666012" y="456133"/>
                  </a:cubicBezTo>
                  <a:cubicBezTo>
                    <a:pt x="4664620" y="457525"/>
                    <a:pt x="4662731" y="458308"/>
                    <a:pt x="4660762" y="458308"/>
                  </a:cubicBezTo>
                  <a:lnTo>
                    <a:pt x="7425" y="458308"/>
                  </a:lnTo>
                  <a:cubicBezTo>
                    <a:pt x="3324" y="458308"/>
                    <a:pt x="0" y="454983"/>
                    <a:pt x="0" y="450882"/>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26" name="TextBox 26"/>
            <p:cNvSpPr txBox="1"/>
            <p:nvPr/>
          </p:nvSpPr>
          <p:spPr>
            <a:xfrm>
              <a:off x="0" y="-38100"/>
              <a:ext cx="4668187" cy="496408"/>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434263" y="5000002"/>
            <a:ext cx="2169564" cy="844431"/>
            <a:chOff x="0" y="0"/>
            <a:chExt cx="1044147" cy="406400"/>
          </a:xfrm>
        </p:grpSpPr>
        <p:sp>
          <p:nvSpPr>
            <p:cNvPr id="28" name="Freeform 28"/>
            <p:cNvSpPr/>
            <p:nvPr/>
          </p:nvSpPr>
          <p:spPr>
            <a:xfrm>
              <a:off x="0" y="0"/>
              <a:ext cx="1044147" cy="406400"/>
            </a:xfrm>
            <a:custGeom>
              <a:avLst/>
              <a:gdLst/>
              <a:ahLst/>
              <a:cxnLst/>
              <a:rect l="l" t="t" r="r" b="b"/>
              <a:pathLst>
                <a:path w="1044147" h="406400">
                  <a:moveTo>
                    <a:pt x="840947" y="0"/>
                  </a:moveTo>
                  <a:cubicBezTo>
                    <a:pt x="953171" y="0"/>
                    <a:pt x="1044147" y="90976"/>
                    <a:pt x="1044147" y="203200"/>
                  </a:cubicBezTo>
                  <a:cubicBezTo>
                    <a:pt x="1044147" y="315424"/>
                    <a:pt x="953171" y="406400"/>
                    <a:pt x="840947" y="406400"/>
                  </a:cubicBezTo>
                  <a:lnTo>
                    <a:pt x="203200" y="406400"/>
                  </a:lnTo>
                  <a:cubicBezTo>
                    <a:pt x="90976" y="406400"/>
                    <a:pt x="0" y="315424"/>
                    <a:pt x="0" y="203200"/>
                  </a:cubicBezTo>
                  <a:cubicBezTo>
                    <a:pt x="0" y="90976"/>
                    <a:pt x="90976" y="0"/>
                    <a:pt x="203200" y="0"/>
                  </a:cubicBezTo>
                  <a:close/>
                </a:path>
              </a:pathLst>
            </a:custGeom>
            <a:solidFill>
              <a:srgbClr val="1800AD"/>
            </a:solidFill>
          </p:spPr>
        </p:sp>
        <p:sp>
          <p:nvSpPr>
            <p:cNvPr id="29" name="TextBox 29"/>
            <p:cNvSpPr txBox="1"/>
            <p:nvPr/>
          </p:nvSpPr>
          <p:spPr>
            <a:xfrm>
              <a:off x="0" y="-47625"/>
              <a:ext cx="1044147" cy="454025"/>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Mục tiêu</a:t>
              </a:r>
            </a:p>
          </p:txBody>
        </p:sp>
      </p:grpSp>
      <p:grpSp>
        <p:nvGrpSpPr>
          <p:cNvPr id="30" name="Group 30"/>
          <p:cNvGrpSpPr/>
          <p:nvPr/>
        </p:nvGrpSpPr>
        <p:grpSpPr>
          <a:xfrm>
            <a:off x="666750" y="5996833"/>
            <a:ext cx="5311815" cy="843714"/>
            <a:chOff x="0" y="0"/>
            <a:chExt cx="2011594" cy="319516"/>
          </a:xfrm>
        </p:grpSpPr>
        <p:sp>
          <p:nvSpPr>
            <p:cNvPr id="31" name="Freeform 31"/>
            <p:cNvSpPr/>
            <p:nvPr/>
          </p:nvSpPr>
          <p:spPr>
            <a:xfrm>
              <a:off x="0" y="0"/>
              <a:ext cx="2011594" cy="319516"/>
            </a:xfrm>
            <a:custGeom>
              <a:avLst/>
              <a:gdLst/>
              <a:ahLst/>
              <a:cxnLst/>
              <a:rect l="l" t="t" r="r" b="b"/>
              <a:pathLst>
                <a:path w="2011594" h="319516">
                  <a:moveTo>
                    <a:pt x="1808394" y="0"/>
                  </a:moveTo>
                  <a:cubicBezTo>
                    <a:pt x="1920618" y="0"/>
                    <a:pt x="2011594" y="71526"/>
                    <a:pt x="2011594" y="159758"/>
                  </a:cubicBezTo>
                  <a:cubicBezTo>
                    <a:pt x="2011594" y="247990"/>
                    <a:pt x="1920618" y="319516"/>
                    <a:pt x="1808394" y="319516"/>
                  </a:cubicBezTo>
                  <a:lnTo>
                    <a:pt x="203200" y="319516"/>
                  </a:lnTo>
                  <a:cubicBezTo>
                    <a:pt x="90976" y="319516"/>
                    <a:pt x="0" y="247990"/>
                    <a:pt x="0" y="159758"/>
                  </a:cubicBezTo>
                  <a:cubicBezTo>
                    <a:pt x="0" y="71526"/>
                    <a:pt x="90976" y="0"/>
                    <a:pt x="203200" y="0"/>
                  </a:cubicBezTo>
                  <a:close/>
                </a:path>
              </a:pathLst>
            </a:custGeom>
            <a:solidFill>
              <a:srgbClr val="FFBD59"/>
            </a:solidFill>
          </p:spPr>
        </p:sp>
        <p:sp>
          <p:nvSpPr>
            <p:cNvPr id="32" name="TextBox 32"/>
            <p:cNvSpPr txBox="1"/>
            <p:nvPr/>
          </p:nvSpPr>
          <p:spPr>
            <a:xfrm>
              <a:off x="0" y="-47625"/>
              <a:ext cx="2011594" cy="367141"/>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Tăng động lực luyện tập</a:t>
              </a:r>
            </a:p>
          </p:txBody>
        </p:sp>
      </p:grpSp>
      <p:grpSp>
        <p:nvGrpSpPr>
          <p:cNvPr id="33" name="Group 33"/>
          <p:cNvGrpSpPr/>
          <p:nvPr/>
        </p:nvGrpSpPr>
        <p:grpSpPr>
          <a:xfrm>
            <a:off x="6488093" y="5996833"/>
            <a:ext cx="5311815" cy="843714"/>
            <a:chOff x="0" y="0"/>
            <a:chExt cx="2011594" cy="319516"/>
          </a:xfrm>
        </p:grpSpPr>
        <p:sp>
          <p:nvSpPr>
            <p:cNvPr id="34" name="Freeform 34"/>
            <p:cNvSpPr/>
            <p:nvPr/>
          </p:nvSpPr>
          <p:spPr>
            <a:xfrm>
              <a:off x="0" y="0"/>
              <a:ext cx="2011594" cy="319516"/>
            </a:xfrm>
            <a:custGeom>
              <a:avLst/>
              <a:gdLst/>
              <a:ahLst/>
              <a:cxnLst/>
              <a:rect l="l" t="t" r="r" b="b"/>
              <a:pathLst>
                <a:path w="2011594" h="319516">
                  <a:moveTo>
                    <a:pt x="1808394" y="0"/>
                  </a:moveTo>
                  <a:cubicBezTo>
                    <a:pt x="1920618" y="0"/>
                    <a:pt x="2011594" y="71526"/>
                    <a:pt x="2011594" y="159758"/>
                  </a:cubicBezTo>
                  <a:cubicBezTo>
                    <a:pt x="2011594" y="247990"/>
                    <a:pt x="1920618" y="319516"/>
                    <a:pt x="1808394" y="319516"/>
                  </a:cubicBezTo>
                  <a:lnTo>
                    <a:pt x="203200" y="319516"/>
                  </a:lnTo>
                  <a:cubicBezTo>
                    <a:pt x="90976" y="319516"/>
                    <a:pt x="0" y="247990"/>
                    <a:pt x="0" y="159758"/>
                  </a:cubicBezTo>
                  <a:cubicBezTo>
                    <a:pt x="0" y="71526"/>
                    <a:pt x="90976" y="0"/>
                    <a:pt x="203200" y="0"/>
                  </a:cubicBezTo>
                  <a:close/>
                </a:path>
              </a:pathLst>
            </a:custGeom>
            <a:solidFill>
              <a:srgbClr val="FFBD59"/>
            </a:solidFill>
          </p:spPr>
        </p:sp>
        <p:sp>
          <p:nvSpPr>
            <p:cNvPr id="35" name="TextBox 35"/>
            <p:cNvSpPr txBox="1"/>
            <p:nvPr/>
          </p:nvSpPr>
          <p:spPr>
            <a:xfrm>
              <a:off x="0" y="-47625"/>
              <a:ext cx="2011594" cy="367141"/>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Tăng mức độ tương tác</a:t>
              </a:r>
            </a:p>
          </p:txBody>
        </p:sp>
      </p:grpSp>
      <p:grpSp>
        <p:nvGrpSpPr>
          <p:cNvPr id="36" name="Group 36"/>
          <p:cNvGrpSpPr/>
          <p:nvPr/>
        </p:nvGrpSpPr>
        <p:grpSpPr>
          <a:xfrm>
            <a:off x="12304631" y="5996833"/>
            <a:ext cx="5311815" cy="843714"/>
            <a:chOff x="0" y="0"/>
            <a:chExt cx="2011594" cy="319516"/>
          </a:xfrm>
        </p:grpSpPr>
        <p:sp>
          <p:nvSpPr>
            <p:cNvPr id="37" name="Freeform 37"/>
            <p:cNvSpPr/>
            <p:nvPr/>
          </p:nvSpPr>
          <p:spPr>
            <a:xfrm>
              <a:off x="0" y="0"/>
              <a:ext cx="2011594" cy="319516"/>
            </a:xfrm>
            <a:custGeom>
              <a:avLst/>
              <a:gdLst/>
              <a:ahLst/>
              <a:cxnLst/>
              <a:rect l="l" t="t" r="r" b="b"/>
              <a:pathLst>
                <a:path w="2011594" h="319516">
                  <a:moveTo>
                    <a:pt x="1808394" y="0"/>
                  </a:moveTo>
                  <a:cubicBezTo>
                    <a:pt x="1920618" y="0"/>
                    <a:pt x="2011594" y="71526"/>
                    <a:pt x="2011594" y="159758"/>
                  </a:cubicBezTo>
                  <a:cubicBezTo>
                    <a:pt x="2011594" y="247990"/>
                    <a:pt x="1920618" y="319516"/>
                    <a:pt x="1808394" y="319516"/>
                  </a:cubicBezTo>
                  <a:lnTo>
                    <a:pt x="203200" y="319516"/>
                  </a:lnTo>
                  <a:cubicBezTo>
                    <a:pt x="90976" y="319516"/>
                    <a:pt x="0" y="247990"/>
                    <a:pt x="0" y="159758"/>
                  </a:cubicBezTo>
                  <a:cubicBezTo>
                    <a:pt x="0" y="71526"/>
                    <a:pt x="90976" y="0"/>
                    <a:pt x="203200" y="0"/>
                  </a:cubicBezTo>
                  <a:close/>
                </a:path>
              </a:pathLst>
            </a:custGeom>
            <a:solidFill>
              <a:srgbClr val="FFBD59"/>
            </a:solidFill>
          </p:spPr>
        </p:sp>
        <p:sp>
          <p:nvSpPr>
            <p:cNvPr id="38" name="TextBox 38"/>
            <p:cNvSpPr txBox="1"/>
            <p:nvPr/>
          </p:nvSpPr>
          <p:spPr>
            <a:xfrm>
              <a:off x="0" y="-47625"/>
              <a:ext cx="2011594" cy="367141"/>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Duy trì thói quen lâu dài</a:t>
              </a:r>
            </a:p>
          </p:txBody>
        </p:sp>
      </p:grpSp>
      <p:grpSp>
        <p:nvGrpSpPr>
          <p:cNvPr id="39" name="Group 39"/>
          <p:cNvGrpSpPr/>
          <p:nvPr/>
        </p:nvGrpSpPr>
        <p:grpSpPr>
          <a:xfrm>
            <a:off x="301002" y="7209980"/>
            <a:ext cx="17724523" cy="2605399"/>
            <a:chOff x="0" y="0"/>
            <a:chExt cx="4668187" cy="686196"/>
          </a:xfrm>
        </p:grpSpPr>
        <p:sp>
          <p:nvSpPr>
            <p:cNvPr id="40" name="Freeform 40"/>
            <p:cNvSpPr/>
            <p:nvPr/>
          </p:nvSpPr>
          <p:spPr>
            <a:xfrm>
              <a:off x="0" y="0"/>
              <a:ext cx="4668187" cy="686196"/>
            </a:xfrm>
            <a:custGeom>
              <a:avLst/>
              <a:gdLst/>
              <a:ahLst/>
              <a:cxnLst/>
              <a:rect l="l" t="t" r="r" b="b"/>
              <a:pathLst>
                <a:path w="4668187" h="686196">
                  <a:moveTo>
                    <a:pt x="7425" y="0"/>
                  </a:moveTo>
                  <a:lnTo>
                    <a:pt x="4660762" y="0"/>
                  </a:lnTo>
                  <a:cubicBezTo>
                    <a:pt x="4664863" y="0"/>
                    <a:pt x="4668187" y="3324"/>
                    <a:pt x="4668187" y="7425"/>
                  </a:cubicBezTo>
                  <a:lnTo>
                    <a:pt x="4668187" y="678770"/>
                  </a:lnTo>
                  <a:cubicBezTo>
                    <a:pt x="4668187" y="680740"/>
                    <a:pt x="4667405" y="682628"/>
                    <a:pt x="4666012" y="684021"/>
                  </a:cubicBezTo>
                  <a:cubicBezTo>
                    <a:pt x="4664620" y="685413"/>
                    <a:pt x="4662731" y="686196"/>
                    <a:pt x="4660762" y="686196"/>
                  </a:cubicBezTo>
                  <a:lnTo>
                    <a:pt x="7425" y="686196"/>
                  </a:lnTo>
                  <a:cubicBezTo>
                    <a:pt x="5456" y="686196"/>
                    <a:pt x="3567" y="685413"/>
                    <a:pt x="2175" y="684021"/>
                  </a:cubicBezTo>
                  <a:cubicBezTo>
                    <a:pt x="782" y="682628"/>
                    <a:pt x="0" y="680740"/>
                    <a:pt x="0" y="678770"/>
                  </a:cubicBezTo>
                  <a:lnTo>
                    <a:pt x="0" y="7425"/>
                  </a:lnTo>
                  <a:cubicBezTo>
                    <a:pt x="0" y="3324"/>
                    <a:pt x="3324" y="0"/>
                    <a:pt x="7425" y="0"/>
                  </a:cubicBezTo>
                  <a:close/>
                </a:path>
              </a:pathLst>
            </a:custGeom>
            <a:solidFill>
              <a:srgbClr val="FFFFFF"/>
            </a:solidFill>
            <a:ln w="9525" cap="sq">
              <a:solidFill>
                <a:srgbClr val="5170FF"/>
              </a:solidFill>
              <a:prstDash val="solid"/>
              <a:miter/>
            </a:ln>
          </p:spPr>
        </p:sp>
        <p:sp>
          <p:nvSpPr>
            <p:cNvPr id="41" name="TextBox 41"/>
            <p:cNvSpPr txBox="1"/>
            <p:nvPr/>
          </p:nvSpPr>
          <p:spPr>
            <a:xfrm>
              <a:off x="0" y="-38100"/>
              <a:ext cx="4668187" cy="724296"/>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7026707" y="7105205"/>
            <a:ext cx="5053769" cy="621657"/>
            <a:chOff x="0" y="0"/>
            <a:chExt cx="2432231" cy="299185"/>
          </a:xfrm>
        </p:grpSpPr>
        <p:sp>
          <p:nvSpPr>
            <p:cNvPr id="43" name="Freeform 43"/>
            <p:cNvSpPr/>
            <p:nvPr/>
          </p:nvSpPr>
          <p:spPr>
            <a:xfrm>
              <a:off x="0" y="0"/>
              <a:ext cx="2432231" cy="299185"/>
            </a:xfrm>
            <a:custGeom>
              <a:avLst/>
              <a:gdLst/>
              <a:ahLst/>
              <a:cxnLst/>
              <a:rect l="l" t="t" r="r" b="b"/>
              <a:pathLst>
                <a:path w="2432231" h="299185">
                  <a:moveTo>
                    <a:pt x="2229031" y="0"/>
                  </a:moveTo>
                  <a:cubicBezTo>
                    <a:pt x="2341255" y="0"/>
                    <a:pt x="2432231" y="66975"/>
                    <a:pt x="2432231" y="149593"/>
                  </a:cubicBezTo>
                  <a:cubicBezTo>
                    <a:pt x="2432231" y="232210"/>
                    <a:pt x="2341255" y="299185"/>
                    <a:pt x="2229031" y="299185"/>
                  </a:cubicBezTo>
                  <a:lnTo>
                    <a:pt x="203200" y="299185"/>
                  </a:lnTo>
                  <a:cubicBezTo>
                    <a:pt x="90976" y="299185"/>
                    <a:pt x="0" y="232210"/>
                    <a:pt x="0" y="149593"/>
                  </a:cubicBezTo>
                  <a:cubicBezTo>
                    <a:pt x="0" y="66975"/>
                    <a:pt x="90976" y="0"/>
                    <a:pt x="203200" y="0"/>
                  </a:cubicBezTo>
                  <a:close/>
                </a:path>
              </a:pathLst>
            </a:custGeom>
            <a:solidFill>
              <a:srgbClr val="1800AD"/>
            </a:solidFill>
          </p:spPr>
        </p:sp>
        <p:sp>
          <p:nvSpPr>
            <p:cNvPr id="44" name="TextBox 44"/>
            <p:cNvSpPr txBox="1"/>
            <p:nvPr/>
          </p:nvSpPr>
          <p:spPr>
            <a:xfrm>
              <a:off x="0" y="-47625"/>
              <a:ext cx="2432231" cy="346810"/>
            </a:xfrm>
            <a:prstGeom prst="rect">
              <a:avLst/>
            </a:prstGeom>
          </p:spPr>
          <p:txBody>
            <a:bodyPr lIns="50800" tIns="50800" rIns="50800" bIns="50800" rtlCol="0" anchor="ctr"/>
            <a:lstStyle/>
            <a:p>
              <a:pPr algn="ctr">
                <a:lnSpc>
                  <a:spcPts val="3639"/>
                </a:lnSpc>
              </a:pPr>
              <a:r>
                <a:rPr lang="en-US" sz="2599" b="1">
                  <a:solidFill>
                    <a:srgbClr val="FFFFFF"/>
                  </a:solidFill>
                  <a:latin typeface="Inter Bold"/>
                  <a:ea typeface="Inter Bold"/>
                  <a:cs typeface="Inter Bold"/>
                  <a:sym typeface="Inter Bold"/>
                </a:rPr>
                <a:t>CÁC THÀNH PHẦN CHÍNH</a:t>
              </a:r>
            </a:p>
          </p:txBody>
        </p:sp>
      </p:grpSp>
      <p:sp>
        <p:nvSpPr>
          <p:cNvPr id="45" name="Freeform 45"/>
          <p:cNvSpPr/>
          <p:nvPr/>
        </p:nvSpPr>
        <p:spPr>
          <a:xfrm>
            <a:off x="1225254"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2"/>
            <a:stretch>
              <a:fillRect/>
            </a:stretch>
          </a:blipFill>
        </p:spPr>
      </p:sp>
      <p:sp>
        <p:nvSpPr>
          <p:cNvPr id="46" name="Freeform 46"/>
          <p:cNvSpPr/>
          <p:nvPr/>
        </p:nvSpPr>
        <p:spPr>
          <a:xfrm>
            <a:off x="4121598"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3"/>
            <a:stretch>
              <a:fillRect/>
            </a:stretch>
          </a:blipFill>
        </p:spPr>
      </p:sp>
      <p:sp>
        <p:nvSpPr>
          <p:cNvPr id="47" name="Freeform 47"/>
          <p:cNvSpPr/>
          <p:nvPr/>
        </p:nvSpPr>
        <p:spPr>
          <a:xfrm>
            <a:off x="7019017" y="7897407"/>
            <a:ext cx="1230544" cy="1230544"/>
          </a:xfrm>
          <a:custGeom>
            <a:avLst/>
            <a:gdLst/>
            <a:ahLst/>
            <a:cxnLst/>
            <a:rect l="l" t="t" r="r" b="b"/>
            <a:pathLst>
              <a:path w="1230544" h="1230544">
                <a:moveTo>
                  <a:pt x="0" y="0"/>
                </a:moveTo>
                <a:lnTo>
                  <a:pt x="1230545" y="0"/>
                </a:lnTo>
                <a:lnTo>
                  <a:pt x="1230545" y="1230545"/>
                </a:lnTo>
                <a:lnTo>
                  <a:pt x="0" y="1230545"/>
                </a:lnTo>
                <a:lnTo>
                  <a:pt x="0" y="0"/>
                </a:lnTo>
                <a:close/>
              </a:path>
            </a:pathLst>
          </a:custGeom>
          <a:blipFill>
            <a:blip r:embed="rId4"/>
            <a:stretch>
              <a:fillRect/>
            </a:stretch>
          </a:blipFill>
        </p:spPr>
      </p:sp>
      <p:sp>
        <p:nvSpPr>
          <p:cNvPr id="48" name="Freeform 48"/>
          <p:cNvSpPr/>
          <p:nvPr/>
        </p:nvSpPr>
        <p:spPr>
          <a:xfrm>
            <a:off x="9916437"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5"/>
            <a:stretch>
              <a:fillRect/>
            </a:stretch>
          </a:blipFill>
        </p:spPr>
      </p:sp>
      <p:sp>
        <p:nvSpPr>
          <p:cNvPr id="49" name="Freeform 49"/>
          <p:cNvSpPr/>
          <p:nvPr/>
        </p:nvSpPr>
        <p:spPr>
          <a:xfrm>
            <a:off x="12813856" y="7897407"/>
            <a:ext cx="1230544" cy="1230544"/>
          </a:xfrm>
          <a:custGeom>
            <a:avLst/>
            <a:gdLst/>
            <a:ahLst/>
            <a:cxnLst/>
            <a:rect l="l" t="t" r="r" b="b"/>
            <a:pathLst>
              <a:path w="1230544" h="1230544">
                <a:moveTo>
                  <a:pt x="0" y="0"/>
                </a:moveTo>
                <a:lnTo>
                  <a:pt x="1230544" y="0"/>
                </a:lnTo>
                <a:lnTo>
                  <a:pt x="1230544" y="1230545"/>
                </a:lnTo>
                <a:lnTo>
                  <a:pt x="0" y="1230545"/>
                </a:lnTo>
                <a:lnTo>
                  <a:pt x="0" y="0"/>
                </a:lnTo>
                <a:close/>
              </a:path>
            </a:pathLst>
          </a:custGeom>
          <a:blipFill>
            <a:blip r:embed="rId6"/>
            <a:stretch>
              <a:fillRect/>
            </a:stretch>
          </a:blipFill>
        </p:spPr>
      </p:sp>
      <p:sp>
        <p:nvSpPr>
          <p:cNvPr id="50" name="Freeform 50"/>
          <p:cNvSpPr/>
          <p:nvPr/>
        </p:nvSpPr>
        <p:spPr>
          <a:xfrm>
            <a:off x="15711275" y="7897407"/>
            <a:ext cx="1230544" cy="1230544"/>
          </a:xfrm>
          <a:custGeom>
            <a:avLst/>
            <a:gdLst/>
            <a:ahLst/>
            <a:cxnLst/>
            <a:rect l="l" t="t" r="r" b="b"/>
            <a:pathLst>
              <a:path w="1230544" h="1230544">
                <a:moveTo>
                  <a:pt x="0" y="0"/>
                </a:moveTo>
                <a:lnTo>
                  <a:pt x="1230545" y="0"/>
                </a:lnTo>
                <a:lnTo>
                  <a:pt x="1230545" y="1230545"/>
                </a:lnTo>
                <a:lnTo>
                  <a:pt x="0" y="1230545"/>
                </a:lnTo>
                <a:lnTo>
                  <a:pt x="0" y="0"/>
                </a:lnTo>
                <a:close/>
              </a:path>
            </a:pathLst>
          </a:custGeom>
          <a:blipFill>
            <a:blip r:embed="rId7"/>
            <a:stretch>
              <a:fillRect/>
            </a:stretch>
          </a:blipFill>
        </p:spPr>
      </p:sp>
      <p:sp>
        <p:nvSpPr>
          <p:cNvPr id="51" name="TextBox 51"/>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52" name="TextBox 52"/>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53" name="TextBox 53"/>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54" name="TextBox 54"/>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55" name="TextBox 55"/>
          <p:cNvSpPr txBox="1"/>
          <p:nvPr/>
        </p:nvSpPr>
        <p:spPr>
          <a:xfrm>
            <a:off x="484707" y="3577806"/>
            <a:ext cx="17357112" cy="1012191"/>
          </a:xfrm>
          <a:prstGeom prst="rect">
            <a:avLst/>
          </a:prstGeom>
        </p:spPr>
        <p:txBody>
          <a:bodyPr lIns="0" tIns="0" rIns="0" bIns="0" rtlCol="0" anchor="t">
            <a:spAutoFit/>
          </a:bodyPr>
          <a:lstStyle/>
          <a:p>
            <a:pPr algn="just">
              <a:lnSpc>
                <a:spcPts val="4059"/>
              </a:lnSpc>
              <a:spcBef>
                <a:spcPct val="0"/>
              </a:spcBef>
            </a:pPr>
            <a:r>
              <a:rPr lang="en-US" sz="2899" i="1">
                <a:solidFill>
                  <a:srgbClr val="000000"/>
                </a:solidFill>
                <a:latin typeface="Inter Italics"/>
                <a:ea typeface="Inter Italics"/>
                <a:cs typeface="Inter Italics"/>
                <a:sym typeface="Inter Italics"/>
              </a:rPr>
              <a:t>Gamification là việc áp dụng các yếu tố của trò chơi vào hệ thống nhằm tăng động lực, khuyến khích người dùng và duy trì hành vi.</a:t>
            </a:r>
          </a:p>
        </p:txBody>
      </p:sp>
      <p:sp>
        <p:nvSpPr>
          <p:cNvPr id="56" name="TextBox 56"/>
          <p:cNvSpPr txBox="1"/>
          <p:nvPr/>
        </p:nvSpPr>
        <p:spPr>
          <a:xfrm>
            <a:off x="446607" y="9181388"/>
            <a:ext cx="2821269"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Điểm thưởng</a:t>
            </a:r>
          </a:p>
        </p:txBody>
      </p:sp>
      <p:sp>
        <p:nvSpPr>
          <p:cNvPr id="57" name="TextBox 57"/>
          <p:cNvSpPr txBox="1"/>
          <p:nvPr/>
        </p:nvSpPr>
        <p:spPr>
          <a:xfrm>
            <a:off x="3790733" y="9181388"/>
            <a:ext cx="2025907"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Huy hiệu</a:t>
            </a:r>
          </a:p>
        </p:txBody>
      </p:sp>
      <p:sp>
        <p:nvSpPr>
          <p:cNvPr id="58" name="TextBox 58"/>
          <p:cNvSpPr txBox="1"/>
          <p:nvPr/>
        </p:nvSpPr>
        <p:spPr>
          <a:xfrm>
            <a:off x="6621336" y="9181388"/>
            <a:ext cx="2025907"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Cấp độ</a:t>
            </a:r>
          </a:p>
        </p:txBody>
      </p:sp>
      <p:sp>
        <p:nvSpPr>
          <p:cNvPr id="59" name="TextBox 59"/>
          <p:cNvSpPr txBox="1"/>
          <p:nvPr/>
        </p:nvSpPr>
        <p:spPr>
          <a:xfrm>
            <a:off x="9274104" y="9181388"/>
            <a:ext cx="2538654"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Chuỗi ngày</a:t>
            </a:r>
          </a:p>
        </p:txBody>
      </p:sp>
      <p:sp>
        <p:nvSpPr>
          <p:cNvPr id="60" name="TextBox 60"/>
          <p:cNvSpPr txBox="1"/>
          <p:nvPr/>
        </p:nvSpPr>
        <p:spPr>
          <a:xfrm>
            <a:off x="12211914" y="9181388"/>
            <a:ext cx="2538654"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Thử thách</a:t>
            </a:r>
          </a:p>
        </p:txBody>
      </p:sp>
      <p:sp>
        <p:nvSpPr>
          <p:cNvPr id="61" name="TextBox 61"/>
          <p:cNvSpPr txBox="1"/>
          <p:nvPr/>
        </p:nvSpPr>
        <p:spPr>
          <a:xfrm>
            <a:off x="15150619" y="9181388"/>
            <a:ext cx="2538654" cy="521336"/>
          </a:xfrm>
          <a:prstGeom prst="rect">
            <a:avLst/>
          </a:prstGeom>
        </p:spPr>
        <p:txBody>
          <a:bodyPr lIns="0" tIns="0" rIns="0" bIns="0" rtlCol="0" anchor="t">
            <a:spAutoFit/>
          </a:bodyPr>
          <a:lstStyle/>
          <a:p>
            <a:pPr algn="ctr">
              <a:lnSpc>
                <a:spcPts val="4339"/>
              </a:lnSpc>
              <a:spcBef>
                <a:spcPct val="0"/>
              </a:spcBef>
            </a:pPr>
            <a:r>
              <a:rPr lang="en-US" sz="3099" b="1">
                <a:solidFill>
                  <a:srgbClr val="737373"/>
                </a:solidFill>
                <a:latin typeface="Inter Bold"/>
                <a:ea typeface="Inter Bold"/>
                <a:cs typeface="Inter Bold"/>
                <a:sym typeface="Inter Bold"/>
              </a:rPr>
              <a:t>Phần thưởng</a:t>
            </a:r>
          </a:p>
        </p:txBody>
      </p:sp>
      <p:sp>
        <p:nvSpPr>
          <p:cNvPr id="62" name="TextBox 62"/>
          <p:cNvSpPr txBox="1"/>
          <p:nvPr/>
        </p:nvSpPr>
        <p:spPr>
          <a:xfrm>
            <a:off x="17547572" y="9758229"/>
            <a:ext cx="403126"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872"/>
              <a:ext cx="4816593" cy="252419"/>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USE CASE - NGƯỜI DÙNG</a:t>
              </a:r>
            </a:p>
          </p:txBody>
        </p:sp>
      </p:grpSp>
      <p:sp>
        <p:nvSpPr>
          <p:cNvPr id="18" name="Freeform 18"/>
          <p:cNvSpPr/>
          <p:nvPr/>
        </p:nvSpPr>
        <p:spPr>
          <a:xfrm>
            <a:off x="3341739" y="2476199"/>
            <a:ext cx="11604523" cy="7332211"/>
          </a:xfrm>
          <a:custGeom>
            <a:avLst/>
            <a:gdLst/>
            <a:ahLst/>
            <a:cxnLst/>
            <a:rect l="l" t="t" r="r" b="b"/>
            <a:pathLst>
              <a:path w="11604523" h="7332211">
                <a:moveTo>
                  <a:pt x="0" y="0"/>
                </a:moveTo>
                <a:lnTo>
                  <a:pt x="11604522" y="0"/>
                </a:lnTo>
                <a:lnTo>
                  <a:pt x="11604522" y="7332211"/>
                </a:lnTo>
                <a:lnTo>
                  <a:pt x="0" y="7332211"/>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TextBox 23"/>
          <p:cNvSpPr txBox="1"/>
          <p:nvPr/>
        </p:nvSpPr>
        <p:spPr>
          <a:xfrm>
            <a:off x="17592865" y="9508547"/>
            <a:ext cx="312539"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287248"/>
            <a:ext cx="18288000" cy="1017502"/>
            <a:chOff x="0" y="-14692"/>
            <a:chExt cx="4816593" cy="267984"/>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14692"/>
              <a:ext cx="4816593" cy="267983"/>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USE CASE - ADMIN</a:t>
              </a:r>
            </a:p>
          </p:txBody>
        </p:sp>
      </p:grpSp>
      <p:sp>
        <p:nvSpPr>
          <p:cNvPr id="18" name="Freeform 18"/>
          <p:cNvSpPr/>
          <p:nvPr/>
        </p:nvSpPr>
        <p:spPr>
          <a:xfrm>
            <a:off x="2266507" y="3538014"/>
            <a:ext cx="13929460" cy="4048092"/>
          </a:xfrm>
          <a:custGeom>
            <a:avLst/>
            <a:gdLst/>
            <a:ahLst/>
            <a:cxnLst/>
            <a:rect l="l" t="t" r="r" b="b"/>
            <a:pathLst>
              <a:path w="13929460" h="4048092">
                <a:moveTo>
                  <a:pt x="0" y="0"/>
                </a:moveTo>
                <a:lnTo>
                  <a:pt x="13929459" y="0"/>
                </a:lnTo>
                <a:lnTo>
                  <a:pt x="13929459" y="4048092"/>
                </a:lnTo>
                <a:lnTo>
                  <a:pt x="0" y="4048092"/>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TextBox 23"/>
          <p:cNvSpPr txBox="1"/>
          <p:nvPr/>
        </p:nvSpPr>
        <p:spPr>
          <a:xfrm>
            <a:off x="17553079" y="9508547"/>
            <a:ext cx="392113"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2460"/>
              <a:ext cx="4816593" cy="250832"/>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LƯỢC ĐỒ CƠ SỠ DỮ LIỆU</a:t>
              </a:r>
            </a:p>
          </p:txBody>
        </p:sp>
      </p:grpSp>
      <p:sp>
        <p:nvSpPr>
          <p:cNvPr id="18" name="Freeform 18"/>
          <p:cNvSpPr/>
          <p:nvPr/>
        </p:nvSpPr>
        <p:spPr>
          <a:xfrm rot="5400000">
            <a:off x="5300295" y="-1025637"/>
            <a:ext cx="7687410" cy="14672032"/>
          </a:xfrm>
          <a:custGeom>
            <a:avLst/>
            <a:gdLst/>
            <a:ahLst/>
            <a:cxnLst/>
            <a:rect l="l" t="t" r="r" b="b"/>
            <a:pathLst>
              <a:path w="7687410" h="14672032">
                <a:moveTo>
                  <a:pt x="0" y="0"/>
                </a:moveTo>
                <a:lnTo>
                  <a:pt x="7687410" y="0"/>
                </a:lnTo>
                <a:lnTo>
                  <a:pt x="7687410" y="14672032"/>
                </a:lnTo>
                <a:lnTo>
                  <a:pt x="0" y="14672032"/>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TextBox 23"/>
          <p:cNvSpPr txBox="1"/>
          <p:nvPr/>
        </p:nvSpPr>
        <p:spPr>
          <a:xfrm>
            <a:off x="17550251" y="9508547"/>
            <a:ext cx="397768"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2460"/>
              <a:ext cx="4816593" cy="250832"/>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KẾT QUẢ</a:t>
              </a:r>
            </a:p>
          </p:txBody>
        </p:sp>
      </p:grpSp>
      <p:sp>
        <p:nvSpPr>
          <p:cNvPr id="18" name="Freeform 18"/>
          <p:cNvSpPr/>
          <p:nvPr/>
        </p:nvSpPr>
        <p:spPr>
          <a:xfrm>
            <a:off x="1028700" y="2845775"/>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19" name="TextBox 19"/>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0" name="TextBox 20"/>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1" name="TextBox 21"/>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2" name="TextBox 22"/>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3" name="Freeform 23"/>
          <p:cNvSpPr/>
          <p:nvPr/>
        </p:nvSpPr>
        <p:spPr>
          <a:xfrm>
            <a:off x="1028700" y="4290142"/>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24" name="Freeform 24"/>
          <p:cNvSpPr/>
          <p:nvPr/>
        </p:nvSpPr>
        <p:spPr>
          <a:xfrm>
            <a:off x="1028700" y="5734509"/>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25" name="Freeform 25"/>
          <p:cNvSpPr/>
          <p:nvPr/>
        </p:nvSpPr>
        <p:spPr>
          <a:xfrm>
            <a:off x="1028700" y="7178876"/>
            <a:ext cx="1006217" cy="1006217"/>
          </a:xfrm>
          <a:custGeom>
            <a:avLst/>
            <a:gdLst/>
            <a:ahLst/>
            <a:cxnLst/>
            <a:rect l="l" t="t" r="r" b="b"/>
            <a:pathLst>
              <a:path w="1006217" h="1006217">
                <a:moveTo>
                  <a:pt x="0" y="0"/>
                </a:moveTo>
                <a:lnTo>
                  <a:pt x="1006217" y="0"/>
                </a:lnTo>
                <a:lnTo>
                  <a:pt x="1006217" y="1006217"/>
                </a:lnTo>
                <a:lnTo>
                  <a:pt x="0" y="1006217"/>
                </a:lnTo>
                <a:lnTo>
                  <a:pt x="0" y="0"/>
                </a:lnTo>
                <a:close/>
              </a:path>
            </a:pathLst>
          </a:custGeom>
          <a:blipFill>
            <a:blip r:embed="rId2"/>
            <a:stretch>
              <a:fillRect/>
            </a:stretch>
          </a:blipFill>
        </p:spPr>
      </p:sp>
      <p:sp>
        <p:nvSpPr>
          <p:cNvPr id="26" name="Freeform 26"/>
          <p:cNvSpPr/>
          <p:nvPr/>
        </p:nvSpPr>
        <p:spPr>
          <a:xfrm>
            <a:off x="1028700" y="8623243"/>
            <a:ext cx="1006217" cy="1006217"/>
          </a:xfrm>
          <a:custGeom>
            <a:avLst/>
            <a:gdLst/>
            <a:ahLst/>
            <a:cxnLst/>
            <a:rect l="l" t="t" r="r" b="b"/>
            <a:pathLst>
              <a:path w="1006217" h="1006217">
                <a:moveTo>
                  <a:pt x="0" y="0"/>
                </a:moveTo>
                <a:lnTo>
                  <a:pt x="1006217" y="0"/>
                </a:lnTo>
                <a:lnTo>
                  <a:pt x="1006217" y="1006218"/>
                </a:lnTo>
                <a:lnTo>
                  <a:pt x="0" y="1006218"/>
                </a:lnTo>
                <a:lnTo>
                  <a:pt x="0" y="0"/>
                </a:lnTo>
                <a:close/>
              </a:path>
            </a:pathLst>
          </a:custGeom>
          <a:blipFill>
            <a:blip r:embed="rId2"/>
            <a:stretch>
              <a:fillRect/>
            </a:stretch>
          </a:blipFill>
        </p:spPr>
      </p:sp>
      <p:sp>
        <p:nvSpPr>
          <p:cNvPr id="27" name="TextBox 27"/>
          <p:cNvSpPr txBox="1"/>
          <p:nvPr/>
        </p:nvSpPr>
        <p:spPr>
          <a:xfrm>
            <a:off x="2181246" y="2991061"/>
            <a:ext cx="15302484" cy="639445"/>
          </a:xfrm>
          <a:prstGeom prst="rect">
            <a:avLst/>
          </a:prstGeom>
        </p:spPr>
        <p:txBody>
          <a:bodyPr lIns="0" tIns="0" rIns="0" bIns="0" rtlCol="0" anchor="t">
            <a:spAutoFit/>
          </a:bodyPr>
          <a:lstStyle/>
          <a:p>
            <a:pPr algn="ctr">
              <a:lnSpc>
                <a:spcPts val="5179"/>
              </a:lnSpc>
              <a:spcBef>
                <a:spcPct val="0"/>
              </a:spcBef>
            </a:pPr>
            <a:r>
              <a:rPr lang="en-US" sz="3699" i="1">
                <a:solidFill>
                  <a:srgbClr val="000000"/>
                </a:solidFill>
                <a:latin typeface="Inter Italics"/>
                <a:ea typeface="Inter Italics"/>
                <a:cs typeface="Inter Italics"/>
                <a:sym typeface="Inter Italics"/>
              </a:rPr>
              <a:t> Xây dựng thành công hệ thống NutriGain hỗ trợ tăng cân lành mạnh.</a:t>
            </a:r>
          </a:p>
        </p:txBody>
      </p:sp>
      <p:sp>
        <p:nvSpPr>
          <p:cNvPr id="28" name="TextBox 28"/>
          <p:cNvSpPr txBox="1"/>
          <p:nvPr/>
        </p:nvSpPr>
        <p:spPr>
          <a:xfrm>
            <a:off x="2181246" y="4468448"/>
            <a:ext cx="15480512" cy="639445"/>
          </a:xfrm>
          <a:prstGeom prst="rect">
            <a:avLst/>
          </a:prstGeom>
        </p:spPr>
        <p:txBody>
          <a:bodyPr lIns="0" tIns="0" rIns="0" bIns="0" rtlCol="0" anchor="t">
            <a:spAutoFit/>
          </a:bodyPr>
          <a:lstStyle/>
          <a:p>
            <a:pPr algn="ctr">
              <a:lnSpc>
                <a:spcPts val="5179"/>
              </a:lnSpc>
              <a:spcBef>
                <a:spcPct val="0"/>
              </a:spcBef>
            </a:pPr>
            <a:r>
              <a:rPr lang="en-US" sz="3699" i="1">
                <a:solidFill>
                  <a:srgbClr val="000000"/>
                </a:solidFill>
                <a:latin typeface="Inter Italics"/>
                <a:ea typeface="Inter Italics"/>
                <a:cs typeface="Inter Italics"/>
                <a:sym typeface="Inter Italics"/>
              </a:rPr>
              <a:t> Tính toán chính xác BMI, BMR, TDEE và nhu cầu dinh dưỡng cá nhân.</a:t>
            </a:r>
          </a:p>
        </p:txBody>
      </p:sp>
      <p:sp>
        <p:nvSpPr>
          <p:cNvPr id="29" name="TextBox 29"/>
          <p:cNvSpPr txBox="1"/>
          <p:nvPr/>
        </p:nvSpPr>
        <p:spPr>
          <a:xfrm>
            <a:off x="2407427" y="5551183"/>
            <a:ext cx="15076303" cy="1296670"/>
          </a:xfrm>
          <a:prstGeom prst="rect">
            <a:avLst/>
          </a:prstGeom>
        </p:spPr>
        <p:txBody>
          <a:bodyPr lIns="0" tIns="0" rIns="0" bIns="0" rtlCol="0" anchor="t">
            <a:spAutoFit/>
          </a:bodyPr>
          <a:lstStyle/>
          <a:p>
            <a:pPr algn="l">
              <a:lnSpc>
                <a:spcPts val="5179"/>
              </a:lnSpc>
              <a:spcBef>
                <a:spcPct val="0"/>
              </a:spcBef>
            </a:pPr>
            <a:r>
              <a:rPr lang="en-US" sz="3699" i="1">
                <a:solidFill>
                  <a:srgbClr val="000000"/>
                </a:solidFill>
                <a:latin typeface="Inter Italics"/>
                <a:ea typeface="Inter Italics"/>
                <a:cs typeface="Inter Italics"/>
                <a:sym typeface="Inter Italics"/>
              </a:rPr>
              <a:t>Áp dụng Hybrid Recommendation (Content-Based + Rule-Based) để gợi ý thực đơn.</a:t>
            </a:r>
          </a:p>
        </p:txBody>
      </p:sp>
      <p:sp>
        <p:nvSpPr>
          <p:cNvPr id="30" name="TextBox 30"/>
          <p:cNvSpPr txBox="1"/>
          <p:nvPr/>
        </p:nvSpPr>
        <p:spPr>
          <a:xfrm>
            <a:off x="2407427" y="6995550"/>
            <a:ext cx="15254331" cy="1296670"/>
          </a:xfrm>
          <a:prstGeom prst="rect">
            <a:avLst/>
          </a:prstGeom>
        </p:spPr>
        <p:txBody>
          <a:bodyPr lIns="0" tIns="0" rIns="0" bIns="0" rtlCol="0" anchor="t">
            <a:spAutoFit/>
          </a:bodyPr>
          <a:lstStyle/>
          <a:p>
            <a:pPr algn="l">
              <a:lnSpc>
                <a:spcPts val="5179"/>
              </a:lnSpc>
              <a:spcBef>
                <a:spcPct val="0"/>
              </a:spcBef>
            </a:pPr>
            <a:r>
              <a:rPr lang="en-US" sz="3699" i="1">
                <a:solidFill>
                  <a:srgbClr val="000000"/>
                </a:solidFill>
                <a:latin typeface="Inter Italics"/>
                <a:ea typeface="Inter Italics"/>
                <a:cs typeface="Inter Italics"/>
                <a:sym typeface="Inter Italics"/>
              </a:rPr>
              <a:t>Tích hợp các tính năng: AI nhận diện thực phẩm, theo dõi cân nặng, nhật ký ăn uống, Gamification và hệ thống quản trị.</a:t>
            </a:r>
          </a:p>
        </p:txBody>
      </p:sp>
      <p:sp>
        <p:nvSpPr>
          <p:cNvPr id="31" name="TextBox 31"/>
          <p:cNvSpPr txBox="1"/>
          <p:nvPr/>
        </p:nvSpPr>
        <p:spPr>
          <a:xfrm>
            <a:off x="2384071" y="8511037"/>
            <a:ext cx="15624893" cy="1296670"/>
          </a:xfrm>
          <a:prstGeom prst="rect">
            <a:avLst/>
          </a:prstGeom>
        </p:spPr>
        <p:txBody>
          <a:bodyPr lIns="0" tIns="0" rIns="0" bIns="0" rtlCol="0" anchor="t">
            <a:spAutoFit/>
          </a:bodyPr>
          <a:lstStyle/>
          <a:p>
            <a:pPr algn="l">
              <a:lnSpc>
                <a:spcPts val="5179"/>
              </a:lnSpc>
              <a:spcBef>
                <a:spcPct val="0"/>
              </a:spcBef>
            </a:pPr>
            <a:r>
              <a:rPr lang="en-US" sz="3699" i="1">
                <a:solidFill>
                  <a:srgbClr val="000000"/>
                </a:solidFill>
                <a:latin typeface="Inter Italics"/>
                <a:ea typeface="Inter Italics"/>
                <a:cs typeface="Inter Italics"/>
                <a:sym typeface="Inter Italics"/>
              </a:rPr>
              <a:t>Hệ thống hoạt động ổn định, giao diện thân thiện và đáp ứng các yêu cầu chức năng.</a:t>
            </a:r>
          </a:p>
        </p:txBody>
      </p:sp>
      <p:sp>
        <p:nvSpPr>
          <p:cNvPr id="32" name="TextBox 32"/>
          <p:cNvSpPr txBox="1"/>
          <p:nvPr/>
        </p:nvSpPr>
        <p:spPr>
          <a:xfrm>
            <a:off x="17545092" y="9508547"/>
            <a:ext cx="408087"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968643" y="219705"/>
            <a:ext cx="2262593" cy="961402"/>
            <a:chOff x="0" y="0"/>
            <a:chExt cx="594056" cy="252421"/>
          </a:xfrm>
        </p:grpSpPr>
        <p:sp>
          <p:nvSpPr>
            <p:cNvPr id="4" name="Freeform 4"/>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5" name="TextBox 5"/>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842013" y="219705"/>
            <a:ext cx="2262593" cy="961402"/>
            <a:chOff x="0" y="0"/>
            <a:chExt cx="594056" cy="252421"/>
          </a:xfrm>
        </p:grpSpPr>
        <p:sp>
          <p:nvSpPr>
            <p:cNvPr id="7" name="Freeform 7"/>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8" name="TextBox 8"/>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2715382" y="210365"/>
            <a:ext cx="2262593" cy="961402"/>
            <a:chOff x="0" y="0"/>
            <a:chExt cx="594056" cy="252421"/>
          </a:xfrm>
        </p:grpSpPr>
        <p:sp>
          <p:nvSpPr>
            <p:cNvPr id="10" name="Freeform 10"/>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FFFFFF"/>
            </a:solidFill>
            <a:ln w="38100" cap="rnd">
              <a:solidFill>
                <a:srgbClr val="D9D9D9"/>
              </a:solidFill>
              <a:prstDash val="solid"/>
              <a:round/>
            </a:ln>
          </p:spPr>
        </p:sp>
        <p:sp>
          <p:nvSpPr>
            <p:cNvPr id="11" name="TextBox 11"/>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79226" y="219705"/>
            <a:ext cx="2262593" cy="961402"/>
            <a:chOff x="0" y="0"/>
            <a:chExt cx="594056" cy="252421"/>
          </a:xfrm>
        </p:grpSpPr>
        <p:sp>
          <p:nvSpPr>
            <p:cNvPr id="13" name="Freeform 13"/>
            <p:cNvSpPr/>
            <p:nvPr/>
          </p:nvSpPr>
          <p:spPr>
            <a:xfrm>
              <a:off x="0" y="0"/>
              <a:ext cx="594056" cy="252421"/>
            </a:xfrm>
            <a:custGeom>
              <a:avLst/>
              <a:gdLst/>
              <a:ahLst/>
              <a:cxnLst/>
              <a:rect l="l" t="t" r="r" b="b"/>
              <a:pathLst>
                <a:path w="594056" h="252421">
                  <a:moveTo>
                    <a:pt x="126211" y="0"/>
                  </a:moveTo>
                  <a:lnTo>
                    <a:pt x="467845" y="0"/>
                  </a:lnTo>
                  <a:cubicBezTo>
                    <a:pt x="501319" y="0"/>
                    <a:pt x="533421" y="13297"/>
                    <a:pt x="557090" y="36966"/>
                  </a:cubicBezTo>
                  <a:cubicBezTo>
                    <a:pt x="580759" y="60635"/>
                    <a:pt x="594056" y="92737"/>
                    <a:pt x="594056" y="126211"/>
                  </a:cubicBezTo>
                  <a:lnTo>
                    <a:pt x="594056" y="126211"/>
                  </a:lnTo>
                  <a:cubicBezTo>
                    <a:pt x="594056" y="159684"/>
                    <a:pt x="580759" y="191786"/>
                    <a:pt x="557090" y="215455"/>
                  </a:cubicBezTo>
                  <a:cubicBezTo>
                    <a:pt x="533421" y="239124"/>
                    <a:pt x="501319" y="252421"/>
                    <a:pt x="467845" y="252421"/>
                  </a:cubicBezTo>
                  <a:lnTo>
                    <a:pt x="126211" y="252421"/>
                  </a:lnTo>
                  <a:cubicBezTo>
                    <a:pt x="92737" y="252421"/>
                    <a:pt x="60635" y="239124"/>
                    <a:pt x="36966" y="215455"/>
                  </a:cubicBezTo>
                  <a:cubicBezTo>
                    <a:pt x="13297" y="191786"/>
                    <a:pt x="0" y="159684"/>
                    <a:pt x="0" y="126211"/>
                  </a:cubicBezTo>
                  <a:lnTo>
                    <a:pt x="0" y="126211"/>
                  </a:lnTo>
                  <a:cubicBezTo>
                    <a:pt x="0" y="92737"/>
                    <a:pt x="13297" y="60635"/>
                    <a:pt x="36966" y="36966"/>
                  </a:cubicBezTo>
                  <a:cubicBezTo>
                    <a:pt x="60635" y="13297"/>
                    <a:pt x="92737" y="0"/>
                    <a:pt x="126211" y="0"/>
                  </a:cubicBezTo>
                  <a:close/>
                </a:path>
              </a:pathLst>
            </a:custGeom>
            <a:solidFill>
              <a:srgbClr val="1800AD"/>
            </a:solidFill>
            <a:ln w="38100" cap="rnd">
              <a:solidFill>
                <a:srgbClr val="D9D9D9"/>
              </a:solidFill>
              <a:prstDash val="solid"/>
              <a:round/>
            </a:ln>
          </p:spPr>
        </p:sp>
        <p:sp>
          <p:nvSpPr>
            <p:cNvPr id="14" name="TextBox 14"/>
            <p:cNvSpPr txBox="1"/>
            <p:nvPr/>
          </p:nvSpPr>
          <p:spPr>
            <a:xfrm>
              <a:off x="0" y="-38100"/>
              <a:ext cx="594056" cy="2905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0" y="1343032"/>
            <a:ext cx="18288000" cy="961718"/>
            <a:chOff x="0" y="0"/>
            <a:chExt cx="4816593" cy="253292"/>
          </a:xfrm>
        </p:grpSpPr>
        <p:sp>
          <p:nvSpPr>
            <p:cNvPr id="16" name="Freeform 16"/>
            <p:cNvSpPr/>
            <p:nvPr/>
          </p:nvSpPr>
          <p:spPr>
            <a:xfrm>
              <a:off x="0" y="0"/>
              <a:ext cx="4816592" cy="253292"/>
            </a:xfrm>
            <a:custGeom>
              <a:avLst/>
              <a:gdLst/>
              <a:ahLst/>
              <a:cxnLst/>
              <a:rect l="l" t="t" r="r" b="b"/>
              <a:pathLst>
                <a:path w="4816592" h="253292">
                  <a:moveTo>
                    <a:pt x="0" y="0"/>
                  </a:moveTo>
                  <a:lnTo>
                    <a:pt x="4816592" y="0"/>
                  </a:lnTo>
                  <a:lnTo>
                    <a:pt x="4816592" y="253292"/>
                  </a:lnTo>
                  <a:lnTo>
                    <a:pt x="0" y="253292"/>
                  </a:lnTo>
                  <a:close/>
                </a:path>
              </a:pathLst>
            </a:custGeom>
            <a:solidFill>
              <a:srgbClr val="1800AD"/>
            </a:solidFill>
          </p:spPr>
        </p:sp>
        <p:sp>
          <p:nvSpPr>
            <p:cNvPr id="17" name="TextBox 17"/>
            <p:cNvSpPr txBox="1"/>
            <p:nvPr/>
          </p:nvSpPr>
          <p:spPr>
            <a:xfrm>
              <a:off x="0" y="21277"/>
              <a:ext cx="4816593" cy="232015"/>
            </a:xfrm>
            <a:prstGeom prst="rect">
              <a:avLst/>
            </a:prstGeom>
          </p:spPr>
          <p:txBody>
            <a:bodyPr lIns="50800" tIns="50800" rIns="50800" bIns="50800" rtlCol="0" anchor="ctr"/>
            <a:lstStyle/>
            <a:p>
              <a:pPr algn="ctr">
                <a:lnSpc>
                  <a:spcPts val="5879"/>
                </a:lnSpc>
              </a:pPr>
              <a:r>
                <a:rPr lang="en-US" sz="4199" b="1">
                  <a:solidFill>
                    <a:srgbClr val="FFFFFF"/>
                  </a:solidFill>
                  <a:latin typeface="Inter Bold"/>
                  <a:ea typeface="Inter Bold"/>
                  <a:cs typeface="Inter Bold"/>
                  <a:sym typeface="Inter Bold"/>
                </a:rPr>
                <a:t>HƯỚNG PHÁT TRIỂN</a:t>
              </a:r>
            </a:p>
          </p:txBody>
        </p:sp>
      </p:grpSp>
      <p:sp>
        <p:nvSpPr>
          <p:cNvPr id="18" name="Freeform 18"/>
          <p:cNvSpPr/>
          <p:nvPr/>
        </p:nvSpPr>
        <p:spPr>
          <a:xfrm>
            <a:off x="13603501" y="3473712"/>
            <a:ext cx="4218150" cy="4218150"/>
          </a:xfrm>
          <a:custGeom>
            <a:avLst/>
            <a:gdLst/>
            <a:ahLst/>
            <a:cxnLst/>
            <a:rect l="l" t="t" r="r" b="b"/>
            <a:pathLst>
              <a:path w="4218150" h="4218150">
                <a:moveTo>
                  <a:pt x="0" y="0"/>
                </a:moveTo>
                <a:lnTo>
                  <a:pt x="4218150" y="0"/>
                </a:lnTo>
                <a:lnTo>
                  <a:pt x="4218150" y="4218150"/>
                </a:lnTo>
                <a:lnTo>
                  <a:pt x="0" y="4218150"/>
                </a:lnTo>
                <a:lnTo>
                  <a:pt x="0" y="0"/>
                </a:lnTo>
                <a:close/>
              </a:path>
            </a:pathLst>
          </a:custGeom>
          <a:blipFill>
            <a:blip r:embed="rId2"/>
            <a:stretch>
              <a:fillRect/>
            </a:stretch>
          </a:blipFill>
        </p:spPr>
      </p:sp>
      <p:sp>
        <p:nvSpPr>
          <p:cNvPr id="19" name="Freeform 19"/>
          <p:cNvSpPr/>
          <p:nvPr/>
        </p:nvSpPr>
        <p:spPr>
          <a:xfrm>
            <a:off x="805466" y="2685541"/>
            <a:ext cx="894054" cy="894054"/>
          </a:xfrm>
          <a:custGeom>
            <a:avLst/>
            <a:gdLst/>
            <a:ahLst/>
            <a:cxnLst/>
            <a:rect l="l" t="t" r="r" b="b"/>
            <a:pathLst>
              <a:path w="894054" h="894054">
                <a:moveTo>
                  <a:pt x="0" y="0"/>
                </a:moveTo>
                <a:lnTo>
                  <a:pt x="894054" y="0"/>
                </a:lnTo>
                <a:lnTo>
                  <a:pt x="894054" y="894054"/>
                </a:lnTo>
                <a:lnTo>
                  <a:pt x="0" y="894054"/>
                </a:lnTo>
                <a:lnTo>
                  <a:pt x="0" y="0"/>
                </a:lnTo>
                <a:close/>
              </a:path>
            </a:pathLst>
          </a:custGeom>
          <a:blipFill>
            <a:blip r:embed="rId3"/>
            <a:stretch>
              <a:fillRect/>
            </a:stretch>
          </a:blipFill>
        </p:spPr>
      </p:sp>
      <p:sp>
        <p:nvSpPr>
          <p:cNvPr id="20" name="TextBox 20"/>
          <p:cNvSpPr txBox="1"/>
          <p:nvPr/>
        </p:nvSpPr>
        <p:spPr>
          <a:xfrm>
            <a:off x="6680223" y="35692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a:t>
            </a:r>
          </a:p>
        </p:txBody>
      </p:sp>
      <p:sp>
        <p:nvSpPr>
          <p:cNvPr id="21" name="TextBox 21"/>
          <p:cNvSpPr txBox="1"/>
          <p:nvPr/>
        </p:nvSpPr>
        <p:spPr>
          <a:xfrm>
            <a:off x="9553592" y="36626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a:t>
            </a:r>
          </a:p>
        </p:txBody>
      </p:sp>
      <p:sp>
        <p:nvSpPr>
          <p:cNvPr id="22" name="TextBox 22"/>
          <p:cNvSpPr txBox="1"/>
          <p:nvPr/>
        </p:nvSpPr>
        <p:spPr>
          <a:xfrm>
            <a:off x="12426961"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III</a:t>
            </a:r>
          </a:p>
        </p:txBody>
      </p:sp>
      <p:sp>
        <p:nvSpPr>
          <p:cNvPr id="23" name="TextBox 23"/>
          <p:cNvSpPr txBox="1"/>
          <p:nvPr/>
        </p:nvSpPr>
        <p:spPr>
          <a:xfrm>
            <a:off x="15290806" y="375603"/>
            <a:ext cx="2873369" cy="573405"/>
          </a:xfrm>
          <a:prstGeom prst="rect">
            <a:avLst/>
          </a:prstGeom>
        </p:spPr>
        <p:txBody>
          <a:bodyPr lIns="0" tIns="0" rIns="0" bIns="0" rtlCol="0" anchor="t">
            <a:spAutoFit/>
          </a:bodyPr>
          <a:lstStyle/>
          <a:p>
            <a:pPr algn="ctr">
              <a:lnSpc>
                <a:spcPts val="4620"/>
              </a:lnSpc>
              <a:spcBef>
                <a:spcPct val="0"/>
              </a:spcBef>
            </a:pPr>
            <a:r>
              <a:rPr lang="en-US" sz="3300" b="1">
                <a:solidFill>
                  <a:srgbClr val="D9D9D9"/>
                </a:solidFill>
                <a:latin typeface="Inter Bold"/>
                <a:ea typeface="Inter Bold"/>
                <a:cs typeface="Inter Bold"/>
                <a:sym typeface="Inter Bold"/>
              </a:rPr>
              <a:t>PHẦN IV</a:t>
            </a:r>
          </a:p>
        </p:txBody>
      </p:sp>
      <p:sp>
        <p:nvSpPr>
          <p:cNvPr id="24" name="TextBox 24"/>
          <p:cNvSpPr txBox="1"/>
          <p:nvPr/>
        </p:nvSpPr>
        <p:spPr>
          <a:xfrm>
            <a:off x="2017587" y="2798240"/>
            <a:ext cx="8972690"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Tích hợp thông tin sức khỏe cá nhân</a:t>
            </a:r>
          </a:p>
        </p:txBody>
      </p:sp>
      <p:sp>
        <p:nvSpPr>
          <p:cNvPr id="25" name="Freeform 25"/>
          <p:cNvSpPr/>
          <p:nvPr/>
        </p:nvSpPr>
        <p:spPr>
          <a:xfrm>
            <a:off x="788499" y="3989170"/>
            <a:ext cx="894054" cy="894054"/>
          </a:xfrm>
          <a:custGeom>
            <a:avLst/>
            <a:gdLst/>
            <a:ahLst/>
            <a:cxnLst/>
            <a:rect l="l" t="t" r="r" b="b"/>
            <a:pathLst>
              <a:path w="894054" h="894054">
                <a:moveTo>
                  <a:pt x="0" y="0"/>
                </a:moveTo>
                <a:lnTo>
                  <a:pt x="894054" y="0"/>
                </a:lnTo>
                <a:lnTo>
                  <a:pt x="894054" y="894053"/>
                </a:lnTo>
                <a:lnTo>
                  <a:pt x="0" y="894053"/>
                </a:lnTo>
                <a:lnTo>
                  <a:pt x="0" y="0"/>
                </a:lnTo>
                <a:close/>
              </a:path>
            </a:pathLst>
          </a:custGeom>
          <a:blipFill>
            <a:blip r:embed="rId3"/>
            <a:stretch>
              <a:fillRect/>
            </a:stretch>
          </a:blipFill>
        </p:spPr>
      </p:sp>
      <p:sp>
        <p:nvSpPr>
          <p:cNvPr id="26" name="TextBox 26"/>
          <p:cNvSpPr txBox="1"/>
          <p:nvPr/>
        </p:nvSpPr>
        <p:spPr>
          <a:xfrm>
            <a:off x="2000619" y="4101869"/>
            <a:ext cx="10103987"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Xây dựng thực đơn cho từng nhóm bệnh</a:t>
            </a:r>
          </a:p>
        </p:txBody>
      </p:sp>
      <p:sp>
        <p:nvSpPr>
          <p:cNvPr id="27" name="Freeform 27"/>
          <p:cNvSpPr/>
          <p:nvPr/>
        </p:nvSpPr>
        <p:spPr>
          <a:xfrm>
            <a:off x="805466" y="5292798"/>
            <a:ext cx="894054" cy="894054"/>
          </a:xfrm>
          <a:custGeom>
            <a:avLst/>
            <a:gdLst/>
            <a:ahLst/>
            <a:cxnLst/>
            <a:rect l="l" t="t" r="r" b="b"/>
            <a:pathLst>
              <a:path w="894054" h="894054">
                <a:moveTo>
                  <a:pt x="0" y="0"/>
                </a:moveTo>
                <a:lnTo>
                  <a:pt x="894054" y="0"/>
                </a:lnTo>
                <a:lnTo>
                  <a:pt x="894054" y="894054"/>
                </a:lnTo>
                <a:lnTo>
                  <a:pt x="0" y="894054"/>
                </a:lnTo>
                <a:lnTo>
                  <a:pt x="0" y="0"/>
                </a:lnTo>
                <a:close/>
              </a:path>
            </a:pathLst>
          </a:custGeom>
          <a:blipFill>
            <a:blip r:embed="rId3"/>
            <a:stretch>
              <a:fillRect/>
            </a:stretch>
          </a:blipFill>
        </p:spPr>
      </p:sp>
      <p:sp>
        <p:nvSpPr>
          <p:cNvPr id="28" name="TextBox 28"/>
          <p:cNvSpPr txBox="1"/>
          <p:nvPr/>
        </p:nvSpPr>
        <p:spPr>
          <a:xfrm>
            <a:off x="2017587" y="5405498"/>
            <a:ext cx="7126413"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Học từ phản hồi người dùng</a:t>
            </a:r>
          </a:p>
        </p:txBody>
      </p:sp>
      <p:sp>
        <p:nvSpPr>
          <p:cNvPr id="29" name="Freeform 29"/>
          <p:cNvSpPr/>
          <p:nvPr/>
        </p:nvSpPr>
        <p:spPr>
          <a:xfrm>
            <a:off x="805466" y="6596427"/>
            <a:ext cx="894054" cy="894054"/>
          </a:xfrm>
          <a:custGeom>
            <a:avLst/>
            <a:gdLst/>
            <a:ahLst/>
            <a:cxnLst/>
            <a:rect l="l" t="t" r="r" b="b"/>
            <a:pathLst>
              <a:path w="894054" h="894054">
                <a:moveTo>
                  <a:pt x="0" y="0"/>
                </a:moveTo>
                <a:lnTo>
                  <a:pt x="894054" y="0"/>
                </a:lnTo>
                <a:lnTo>
                  <a:pt x="894054" y="894054"/>
                </a:lnTo>
                <a:lnTo>
                  <a:pt x="0" y="894054"/>
                </a:lnTo>
                <a:lnTo>
                  <a:pt x="0" y="0"/>
                </a:lnTo>
                <a:close/>
              </a:path>
            </a:pathLst>
          </a:custGeom>
          <a:blipFill>
            <a:blip r:embed="rId3"/>
            <a:stretch>
              <a:fillRect/>
            </a:stretch>
          </a:blipFill>
        </p:spPr>
      </p:sp>
      <p:sp>
        <p:nvSpPr>
          <p:cNvPr id="30" name="TextBox 30"/>
          <p:cNvSpPr txBox="1"/>
          <p:nvPr/>
        </p:nvSpPr>
        <p:spPr>
          <a:xfrm>
            <a:off x="2017587" y="6709126"/>
            <a:ext cx="7824426"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Kết nối thiết bị đeo thông minh</a:t>
            </a:r>
          </a:p>
        </p:txBody>
      </p:sp>
      <p:sp>
        <p:nvSpPr>
          <p:cNvPr id="31" name="Freeform 31"/>
          <p:cNvSpPr/>
          <p:nvPr/>
        </p:nvSpPr>
        <p:spPr>
          <a:xfrm>
            <a:off x="788499" y="7900056"/>
            <a:ext cx="894054" cy="894054"/>
          </a:xfrm>
          <a:custGeom>
            <a:avLst/>
            <a:gdLst/>
            <a:ahLst/>
            <a:cxnLst/>
            <a:rect l="l" t="t" r="r" b="b"/>
            <a:pathLst>
              <a:path w="894054" h="894054">
                <a:moveTo>
                  <a:pt x="0" y="0"/>
                </a:moveTo>
                <a:lnTo>
                  <a:pt x="894054" y="0"/>
                </a:lnTo>
                <a:lnTo>
                  <a:pt x="894054" y="894053"/>
                </a:lnTo>
                <a:lnTo>
                  <a:pt x="0" y="894053"/>
                </a:lnTo>
                <a:lnTo>
                  <a:pt x="0" y="0"/>
                </a:lnTo>
                <a:close/>
              </a:path>
            </a:pathLst>
          </a:custGeom>
          <a:blipFill>
            <a:blip r:embed="rId3"/>
            <a:stretch>
              <a:fillRect/>
            </a:stretch>
          </a:blipFill>
        </p:spPr>
      </p:sp>
      <p:sp>
        <p:nvSpPr>
          <p:cNvPr id="32" name="TextBox 32"/>
          <p:cNvSpPr txBox="1"/>
          <p:nvPr/>
        </p:nvSpPr>
        <p:spPr>
          <a:xfrm>
            <a:off x="2000619" y="8012755"/>
            <a:ext cx="11445706" cy="705486"/>
          </a:xfrm>
          <a:prstGeom prst="rect">
            <a:avLst/>
          </a:prstGeom>
        </p:spPr>
        <p:txBody>
          <a:bodyPr lIns="0" tIns="0" rIns="0" bIns="0" rtlCol="0" anchor="t">
            <a:spAutoFit/>
          </a:bodyPr>
          <a:lstStyle/>
          <a:p>
            <a:pPr algn="ctr">
              <a:lnSpc>
                <a:spcPts val="5739"/>
              </a:lnSpc>
              <a:spcBef>
                <a:spcPct val="0"/>
              </a:spcBef>
            </a:pPr>
            <a:r>
              <a:rPr lang="en-US" sz="4099" i="1">
                <a:solidFill>
                  <a:srgbClr val="000000"/>
                </a:solidFill>
                <a:latin typeface="Inter Italics"/>
                <a:ea typeface="Inter Italics"/>
                <a:cs typeface="Inter Italics"/>
                <a:sym typeface="Inter Italics"/>
              </a:rPr>
              <a:t>Phát triển theo hướng Personalized Nutrition AI</a:t>
            </a:r>
          </a:p>
        </p:txBody>
      </p:sp>
      <p:sp>
        <p:nvSpPr>
          <p:cNvPr id="33" name="TextBox 33"/>
          <p:cNvSpPr txBox="1"/>
          <p:nvPr/>
        </p:nvSpPr>
        <p:spPr>
          <a:xfrm>
            <a:off x="17554964" y="9508547"/>
            <a:ext cx="388342"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5400000">
            <a:off x="16128202" y="201420"/>
            <a:ext cx="3764454" cy="3702854"/>
          </a:xfrm>
          <a:custGeom>
            <a:avLst/>
            <a:gdLst/>
            <a:ahLst/>
            <a:cxnLst/>
            <a:rect l="l" t="t" r="r" b="b"/>
            <a:pathLst>
              <a:path w="3764454" h="3702854">
                <a:moveTo>
                  <a:pt x="0" y="0"/>
                </a:moveTo>
                <a:lnTo>
                  <a:pt x="3764455" y="0"/>
                </a:lnTo>
                <a:lnTo>
                  <a:pt x="3764455" y="3702855"/>
                </a:lnTo>
                <a:lnTo>
                  <a:pt x="0" y="37028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459730" y="8494591"/>
            <a:ext cx="2976861" cy="2928148"/>
          </a:xfrm>
          <a:custGeom>
            <a:avLst/>
            <a:gdLst/>
            <a:ahLst/>
            <a:cxnLst/>
            <a:rect l="l" t="t" r="r" b="b"/>
            <a:pathLst>
              <a:path w="2976861" h="2928148">
                <a:moveTo>
                  <a:pt x="0" y="0"/>
                </a:moveTo>
                <a:lnTo>
                  <a:pt x="2976860" y="0"/>
                </a:lnTo>
                <a:lnTo>
                  <a:pt x="2976860" y="2928149"/>
                </a:lnTo>
                <a:lnTo>
                  <a:pt x="0" y="29281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4001193" y="6584911"/>
            <a:ext cx="4714764" cy="467846"/>
          </a:xfrm>
          <a:prstGeom prst="rect">
            <a:avLst/>
          </a:prstGeom>
        </p:spPr>
        <p:txBody>
          <a:bodyPr lIns="0" tIns="0" rIns="0" bIns="0" rtlCol="0" anchor="t">
            <a:spAutoFit/>
          </a:bodyPr>
          <a:lstStyle/>
          <a:p>
            <a:pPr algn="ctr">
              <a:lnSpc>
                <a:spcPts val="3721"/>
              </a:lnSpc>
              <a:spcBef>
                <a:spcPct val="0"/>
              </a:spcBef>
            </a:pPr>
            <a:r>
              <a:rPr lang="en-US" sz="3101">
                <a:solidFill>
                  <a:srgbClr val="FFFFFF"/>
                </a:solidFill>
                <a:latin typeface="Source Sans 3"/>
                <a:ea typeface="Source Sans 3"/>
                <a:cs typeface="Source Sans 3"/>
                <a:sym typeface="Source Sans 3"/>
              </a:rPr>
              <a:t>Presented by : Kyrie Petrakis </a:t>
            </a:r>
          </a:p>
        </p:txBody>
      </p:sp>
      <p:sp>
        <p:nvSpPr>
          <p:cNvPr id="6" name="Freeform 6"/>
          <p:cNvSpPr/>
          <p:nvPr/>
        </p:nvSpPr>
        <p:spPr>
          <a:xfrm>
            <a:off x="8065803" y="1167656"/>
            <a:ext cx="2156395" cy="2156395"/>
          </a:xfrm>
          <a:custGeom>
            <a:avLst/>
            <a:gdLst/>
            <a:ahLst/>
            <a:cxnLst/>
            <a:rect l="l" t="t" r="r" b="b"/>
            <a:pathLst>
              <a:path w="2156395" h="2156395">
                <a:moveTo>
                  <a:pt x="0" y="0"/>
                </a:moveTo>
                <a:lnTo>
                  <a:pt x="2156394" y="0"/>
                </a:lnTo>
                <a:lnTo>
                  <a:pt x="2156394" y="2156394"/>
                </a:lnTo>
                <a:lnTo>
                  <a:pt x="0" y="2156394"/>
                </a:lnTo>
                <a:lnTo>
                  <a:pt x="0" y="0"/>
                </a:lnTo>
                <a:close/>
              </a:path>
            </a:pathLst>
          </a:custGeom>
          <a:blipFill>
            <a:blip r:embed="rId4"/>
            <a:stretch>
              <a:fillRect/>
            </a:stretch>
          </a:blipFill>
        </p:spPr>
      </p:sp>
      <p:sp>
        <p:nvSpPr>
          <p:cNvPr id="7" name="TextBox 7"/>
          <p:cNvSpPr txBox="1"/>
          <p:nvPr/>
        </p:nvSpPr>
        <p:spPr>
          <a:xfrm>
            <a:off x="2814985" y="3800680"/>
            <a:ext cx="12882215" cy="1517026"/>
          </a:xfrm>
          <a:prstGeom prst="rect">
            <a:avLst/>
          </a:prstGeom>
        </p:spPr>
        <p:txBody>
          <a:bodyPr wrap="square" lIns="0" tIns="0" rIns="0" bIns="0" rtlCol="0" anchor="t">
            <a:spAutoFit/>
          </a:bodyPr>
          <a:lstStyle/>
          <a:p>
            <a:pPr algn="ctr">
              <a:lnSpc>
                <a:spcPts val="12459"/>
              </a:lnSpc>
              <a:spcBef>
                <a:spcPct val="0"/>
              </a:spcBef>
            </a:pPr>
            <a:r>
              <a:rPr lang="en-US" sz="8899" b="1">
                <a:solidFill>
                  <a:srgbClr val="1800AD"/>
                </a:solidFill>
                <a:latin typeface="Inter Bold"/>
                <a:ea typeface="Inter Bold"/>
                <a:cs typeface="Inter Bold"/>
                <a:sym typeface="Inter Bold"/>
              </a:rPr>
              <a:t>CHÂN THÀNH</a:t>
            </a:r>
            <a:r>
              <a:rPr lang="en-US" sz="8899" b="1">
                <a:solidFill>
                  <a:srgbClr val="000000"/>
                </a:solidFill>
                <a:latin typeface="Inter Bold"/>
                <a:ea typeface="Inter Bold"/>
                <a:cs typeface="Inter Bold"/>
                <a:sym typeface="Inter Bold"/>
              </a:rPr>
              <a:t> </a:t>
            </a:r>
            <a:r>
              <a:rPr lang="en-US" sz="8899" b="1">
                <a:solidFill>
                  <a:srgbClr val="FFBD59"/>
                </a:solidFill>
                <a:latin typeface="Inter Bold"/>
                <a:ea typeface="Inter Bold"/>
                <a:cs typeface="Inter Bold"/>
                <a:sym typeface="Inter Bold"/>
              </a:rPr>
              <a:t>CẢM ƠN</a:t>
            </a:r>
          </a:p>
        </p:txBody>
      </p:sp>
      <p:grpSp>
        <p:nvGrpSpPr>
          <p:cNvPr id="8" name="Group 8"/>
          <p:cNvGrpSpPr/>
          <p:nvPr/>
        </p:nvGrpSpPr>
        <p:grpSpPr>
          <a:xfrm>
            <a:off x="4114800" y="5279606"/>
            <a:ext cx="10658836" cy="1083465"/>
            <a:chOff x="0" y="0"/>
            <a:chExt cx="2798534" cy="284470"/>
          </a:xfrm>
        </p:grpSpPr>
        <p:sp>
          <p:nvSpPr>
            <p:cNvPr id="9" name="Freeform 9"/>
            <p:cNvSpPr/>
            <p:nvPr/>
          </p:nvSpPr>
          <p:spPr>
            <a:xfrm>
              <a:off x="0" y="0"/>
              <a:ext cx="2798534" cy="284470"/>
            </a:xfrm>
            <a:custGeom>
              <a:avLst/>
              <a:gdLst/>
              <a:ahLst/>
              <a:cxnLst/>
              <a:rect l="l" t="t" r="r" b="b"/>
              <a:pathLst>
                <a:path w="2798534" h="284470">
                  <a:moveTo>
                    <a:pt x="29780" y="0"/>
                  </a:moveTo>
                  <a:lnTo>
                    <a:pt x="2768755" y="0"/>
                  </a:lnTo>
                  <a:cubicBezTo>
                    <a:pt x="2776653" y="0"/>
                    <a:pt x="2784227" y="3138"/>
                    <a:pt x="2789812" y="8722"/>
                  </a:cubicBezTo>
                  <a:cubicBezTo>
                    <a:pt x="2795397" y="14307"/>
                    <a:pt x="2798534" y="21882"/>
                    <a:pt x="2798534" y="29780"/>
                  </a:cubicBezTo>
                  <a:lnTo>
                    <a:pt x="2798534" y="254690"/>
                  </a:lnTo>
                  <a:cubicBezTo>
                    <a:pt x="2798534" y="262588"/>
                    <a:pt x="2795397" y="270162"/>
                    <a:pt x="2789812" y="275747"/>
                  </a:cubicBezTo>
                  <a:cubicBezTo>
                    <a:pt x="2784227" y="281332"/>
                    <a:pt x="2776653" y="284470"/>
                    <a:pt x="2768755" y="284470"/>
                  </a:cubicBezTo>
                  <a:lnTo>
                    <a:pt x="29780" y="284470"/>
                  </a:lnTo>
                  <a:cubicBezTo>
                    <a:pt x="21882" y="284470"/>
                    <a:pt x="14307" y="281332"/>
                    <a:pt x="8722" y="275747"/>
                  </a:cubicBezTo>
                  <a:cubicBezTo>
                    <a:pt x="3138" y="270162"/>
                    <a:pt x="0" y="262588"/>
                    <a:pt x="0" y="254690"/>
                  </a:cubicBezTo>
                  <a:lnTo>
                    <a:pt x="0" y="29780"/>
                  </a:lnTo>
                  <a:cubicBezTo>
                    <a:pt x="0" y="21882"/>
                    <a:pt x="3138" y="14307"/>
                    <a:pt x="8722" y="8722"/>
                  </a:cubicBezTo>
                  <a:cubicBezTo>
                    <a:pt x="14307" y="3138"/>
                    <a:pt x="21882" y="0"/>
                    <a:pt x="29780" y="0"/>
                  </a:cubicBezTo>
                  <a:close/>
                </a:path>
              </a:pathLst>
            </a:custGeom>
            <a:solidFill>
              <a:srgbClr val="1800AD"/>
            </a:solidFill>
            <a:ln w="9525" cap="rnd">
              <a:solidFill>
                <a:srgbClr val="D9D9D9"/>
              </a:solidFill>
              <a:prstDash val="solid"/>
              <a:round/>
            </a:ln>
          </p:spPr>
        </p:sp>
        <p:sp>
          <p:nvSpPr>
            <p:cNvPr id="10" name="TextBox 10"/>
            <p:cNvSpPr txBox="1"/>
            <p:nvPr/>
          </p:nvSpPr>
          <p:spPr>
            <a:xfrm>
              <a:off x="0" y="0"/>
              <a:ext cx="2798534" cy="284470"/>
            </a:xfrm>
            <a:prstGeom prst="rect">
              <a:avLst/>
            </a:prstGeom>
          </p:spPr>
          <p:txBody>
            <a:bodyPr lIns="50800" tIns="50800" rIns="50800" bIns="50800" rtlCol="0" anchor="ctr"/>
            <a:lstStyle/>
            <a:p>
              <a:pPr algn="ctr">
                <a:lnSpc>
                  <a:spcPts val="6579"/>
                </a:lnSpc>
              </a:pPr>
              <a:r>
                <a:rPr lang="en-US" sz="4699">
                  <a:solidFill>
                    <a:srgbClr val="FFFFFF"/>
                  </a:solidFill>
                  <a:latin typeface="Inter"/>
                  <a:ea typeface="Inter"/>
                  <a:cs typeface="Inter"/>
                  <a:sym typeface="Inter"/>
                </a:rPr>
                <a:t>QÚY HỘI ĐỒNG ĐÃ LẮNG NGHE</a:t>
              </a:r>
            </a:p>
          </p:txBody>
        </p:sp>
      </p:grpSp>
      <p:sp>
        <p:nvSpPr>
          <p:cNvPr id="11" name="TextBox 11"/>
          <p:cNvSpPr txBox="1"/>
          <p:nvPr/>
        </p:nvSpPr>
        <p:spPr>
          <a:xfrm>
            <a:off x="17550449" y="9508547"/>
            <a:ext cx="397371" cy="521336"/>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Inter"/>
                <a:ea typeface="Inter"/>
                <a:cs typeface="Inter"/>
                <a:sym typeface="Inter"/>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1013</Words>
  <Application>Microsoft Office PowerPoint</Application>
  <PresentationFormat>Custom</PresentationFormat>
  <Paragraphs>181</Paragraphs>
  <Slides>17</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6" baseType="lpstr">
      <vt:lpstr>Calibri</vt:lpstr>
      <vt:lpstr>Inter</vt:lpstr>
      <vt:lpstr>Inter Italics</vt:lpstr>
      <vt:lpstr>Paytone One</vt:lpstr>
      <vt:lpstr>Inter Bold</vt:lpstr>
      <vt:lpstr>Source Sans 3</vt:lpstr>
      <vt:lpstr>Arial</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Đăng nhập/Đăng kí</dc:title>
  <dc:creator>ADMIN</dc:creator>
  <cp:lastModifiedBy>Tran Thi Yen Nhi</cp:lastModifiedBy>
  <cp:revision>2</cp:revision>
  <dcterms:created xsi:type="dcterms:W3CDTF">2006-08-16T00:00:00Z</dcterms:created>
  <dcterms:modified xsi:type="dcterms:W3CDTF">2026-07-02T04:16:20Z</dcterms:modified>
  <dc:identifier>DAHOMonOpgM</dc:identifier>
</cp:coreProperties>
</file>